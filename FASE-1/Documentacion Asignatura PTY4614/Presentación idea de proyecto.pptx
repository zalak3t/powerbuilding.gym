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5" r:id="rId7"/>
    <p:sldId id="269" r:id="rId8"/>
    <p:sldId id="268" r:id="rId9"/>
    <p:sldId id="267" r:id="rId10"/>
    <p:sldId id="261" r:id="rId11"/>
    <p:sldId id="262" r:id="rId12"/>
    <p:sldId id="263" r:id="rId13"/>
    <p:sldId id="264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1794" y="1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965588-9B84-4B98-94CB-02B0D3AA89E3}" type="datetimeFigureOut">
              <a:rPr lang="es-CL" smtClean="0"/>
              <a:t>22-09-2026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44B9DF-BE42-4321-A50C-F0EFB48FA1A1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872871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744B9DF-BE42-4321-A50C-F0EFB48FA1A1}" type="slidenum">
              <a:rPr lang="es-CL" smtClean="0"/>
              <a:t>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1407797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6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1ABC9C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828800"/>
            <a:ext cx="74980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1E3C64"/>
                </a:solidFill>
              </a:defRPr>
            </a:pPr>
            <a:r>
              <a:t>Powerbuilding.gym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926080"/>
            <a:ext cx="74980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9BA5AF"/>
                </a:solidFill>
              </a:defRPr>
            </a:pPr>
            <a:r>
              <a:t>Ingeniería Informática - Escuela de Informática y Telecomunicaciones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474720"/>
            <a:ext cx="749807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65564"/>
                </a:solidFill>
              </a:defRPr>
            </a:pPr>
            <a:r>
              <a:t>Equipo: Benjamin Salazar | Victor Mejías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4023360"/>
            <a:ext cx="1587807" cy="2923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465564"/>
                </a:solidFill>
              </a:defRPr>
            </a:pPr>
            <a:r>
              <a:rPr dirty="0"/>
              <a:t>Fase 1: </a:t>
            </a:r>
            <a:r>
              <a:rPr dirty="0" err="1"/>
              <a:t>Planificación</a:t>
            </a:r>
            <a:endParaRPr dirty="0"/>
          </a:p>
        </p:txBody>
      </p:sp>
      <p:sp>
        <p:nvSpPr>
          <p:cNvPr id="7" name="Parallelogram 6"/>
          <p:cNvSpPr/>
          <p:nvPr/>
        </p:nvSpPr>
        <p:spPr>
          <a:xfrm>
            <a:off x="731520" y="4572000"/>
            <a:ext cx="7498079" cy="0"/>
          </a:xfrm>
          <a:prstGeom prst="parallelogram">
            <a:avLst/>
          </a:prstGeom>
          <a:ln w="25400">
            <a:solidFill>
              <a:srgbClr val="1A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Imagen 10">
            <a:extLst>
              <a:ext uri="{FF2B5EF4-FFF2-40B4-BE49-F238E27FC236}">
                <a16:creationId xmlns:a16="http://schemas.microsoft.com/office/drawing/2014/main" id="{C7FD89E8-7B7E-5D59-AA5C-7FFEC3C425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5725" y="-137161"/>
            <a:ext cx="9315450" cy="7080885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ABC9C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E3C64"/>
                </a:solidFill>
              </a:defRPr>
            </a:pPr>
            <a:r>
              <a:rPr dirty="0" err="1"/>
              <a:t>Problemática</a:t>
            </a:r>
            <a:endParaRPr dirty="0"/>
          </a:p>
        </p:txBody>
      </p:sp>
      <p:sp>
        <p:nvSpPr>
          <p:cNvPr id="4" name="Parallelogram 3"/>
          <p:cNvSpPr/>
          <p:nvPr/>
        </p:nvSpPr>
        <p:spPr>
          <a:xfrm>
            <a:off x="457200" y="960120"/>
            <a:ext cx="8229600" cy="0"/>
          </a:xfrm>
          <a:prstGeom prst="parallelogram">
            <a:avLst/>
          </a:prstGeom>
          <a:ln w="25400">
            <a:solidFill>
              <a:srgbClr val="1A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573615"/>
            <a:ext cx="822960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buFont typeface="Arial" panose="020B0604020202020204" pitchFamily="34" charset="0"/>
              <a:buChar char="•"/>
              <a:defRPr sz="900" b="0" i="0">
                <a:solidFill>
                  <a:srgbClr val="9BA5AF"/>
                </a:solidFill>
              </a:defRPr>
            </a:pPr>
            <a:r>
              <a:rPr lang="es-CL" dirty="0"/>
              <a:t>Levantamiento de información directamente con Fran</a:t>
            </a:r>
          </a:p>
          <a:p>
            <a:pPr marL="171450" indent="-171450" algn="l">
              <a:buFont typeface="Arial" panose="020B0604020202020204" pitchFamily="34" charset="0"/>
              <a:buChar char="•"/>
              <a:defRPr sz="900" b="0" i="0">
                <a:solidFill>
                  <a:srgbClr val="9BA5AF"/>
                </a:solidFill>
              </a:defRPr>
            </a:pPr>
            <a:endParaRPr lang="es-CL" dirty="0"/>
          </a:p>
          <a:p>
            <a:pPr marL="171450" indent="-171450" algn="l">
              <a:buFont typeface="Arial" panose="020B0604020202020204" pitchFamily="34" charset="0"/>
              <a:buChar char="•"/>
              <a:defRPr sz="900" b="0" i="0">
                <a:solidFill>
                  <a:srgbClr val="9BA5AF"/>
                </a:solidFill>
              </a:defRPr>
            </a:pPr>
            <a:r>
              <a:rPr lang="es-CL" dirty="0"/>
              <a:t>Porcentajes en relación al tiempo invertido por tarea manual</a:t>
            </a:r>
            <a:endParaRPr dirty="0"/>
          </a:p>
        </p:txBody>
      </p:sp>
      <p:sp>
        <p:nvSpPr>
          <p:cNvPr id="6" name="Rectangle 5"/>
          <p:cNvSpPr/>
          <p:nvPr/>
        </p:nvSpPr>
        <p:spPr>
          <a:xfrm>
            <a:off x="502920" y="2448560"/>
            <a:ext cx="1920240" cy="2148840"/>
          </a:xfrm>
          <a:prstGeom prst="rect">
            <a:avLst/>
          </a:prstGeom>
          <a:solidFill>
            <a:srgbClr val="F5F6F8"/>
          </a:solidFill>
          <a:ln w="38100">
            <a:solidFill>
              <a:srgbClr val="FF6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94360" y="2521712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FF6450"/>
                </a:solidFill>
              </a:defRPr>
            </a:pPr>
            <a:r>
              <a:t>-80%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283260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1E3C64"/>
                </a:solidFill>
              </a:defRPr>
            </a:pPr>
            <a:r>
              <a:t>Gestión de Reservas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116072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465564"/>
                </a:solidFill>
              </a:defRPr>
            </a:pPr>
            <a:r>
              <a:t>10 h/mes → 2 h/mes</a:t>
            </a:r>
          </a:p>
        </p:txBody>
      </p:sp>
      <p:sp>
        <p:nvSpPr>
          <p:cNvPr id="10" name="Parallelogram 9"/>
          <p:cNvSpPr/>
          <p:nvPr/>
        </p:nvSpPr>
        <p:spPr>
          <a:xfrm>
            <a:off x="640080" y="3381248"/>
            <a:ext cx="1645920" cy="0"/>
          </a:xfrm>
          <a:prstGeom prst="parallelogram">
            <a:avLst/>
          </a:prstGeom>
          <a:ln w="9525">
            <a:solidFill>
              <a:srgbClr val="FF6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94360" y="3436112"/>
            <a:ext cx="17373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 i="1">
                <a:solidFill>
                  <a:srgbClr val="465564"/>
                </a:solidFill>
              </a:defRPr>
            </a:pPr>
            <a:r>
              <a:rPr sz="1200" dirty="0"/>
              <a:t>El </a:t>
            </a:r>
            <a:r>
              <a:rPr sz="1200" dirty="0" err="1"/>
              <a:t>sistema</a:t>
            </a:r>
            <a:r>
              <a:rPr sz="1200" dirty="0"/>
              <a:t> </a:t>
            </a:r>
            <a:r>
              <a:rPr sz="1200" dirty="0" err="1"/>
              <a:t>asigna</a:t>
            </a:r>
            <a:r>
              <a:rPr sz="1200" dirty="0"/>
              <a:t> y </a:t>
            </a:r>
            <a:r>
              <a:rPr sz="1200" dirty="0" err="1"/>
              <a:t>bloquea</a:t>
            </a:r>
            <a:r>
              <a:rPr sz="1200" dirty="0"/>
              <a:t> el </a:t>
            </a:r>
            <a:r>
              <a:rPr sz="1200" dirty="0" err="1"/>
              <a:t>cupo</a:t>
            </a:r>
            <a:r>
              <a:rPr sz="1200" dirty="0"/>
              <a:t> al </a:t>
            </a:r>
            <a:r>
              <a:rPr sz="1200" dirty="0" err="1"/>
              <a:t>instante</a:t>
            </a:r>
            <a:r>
              <a:rPr sz="1200" dirty="0"/>
              <a:t>, sin </a:t>
            </a:r>
            <a:r>
              <a:rPr sz="1200" dirty="0" err="1"/>
              <a:t>revisar</a:t>
            </a:r>
            <a:r>
              <a:rPr sz="1200" dirty="0"/>
              <a:t> WhatsApp </a:t>
            </a:r>
            <a:r>
              <a:rPr sz="1200" dirty="0" err="1"/>
              <a:t>caso</a:t>
            </a:r>
            <a:r>
              <a:rPr sz="1200" dirty="0"/>
              <a:t> a </a:t>
            </a:r>
            <a:r>
              <a:rPr sz="1200" dirty="0" err="1"/>
              <a:t>caso</a:t>
            </a:r>
            <a:endParaRPr sz="1200" dirty="0"/>
          </a:p>
        </p:txBody>
      </p:sp>
      <p:sp>
        <p:nvSpPr>
          <p:cNvPr id="12" name="Rectangle 11"/>
          <p:cNvSpPr/>
          <p:nvPr/>
        </p:nvSpPr>
        <p:spPr>
          <a:xfrm>
            <a:off x="2560320" y="2448560"/>
            <a:ext cx="1920240" cy="2148840"/>
          </a:xfrm>
          <a:prstGeom prst="rect">
            <a:avLst/>
          </a:prstGeom>
          <a:solidFill>
            <a:srgbClr val="F5F6F8"/>
          </a:solidFill>
          <a:ln w="38100">
            <a:solidFill>
              <a:srgbClr val="1A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651760" y="2521712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1ABC9C"/>
                </a:solidFill>
              </a:defRPr>
            </a:pPr>
            <a:r>
              <a:t>100%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51760" y="2832608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1E3C64"/>
                </a:solidFill>
              </a:defRPr>
            </a:pPr>
            <a:r>
              <a:t>Historial de Asistencia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3116072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465564"/>
                </a:solidFill>
              </a:defRPr>
            </a:pPr>
            <a:r>
              <a:t>15 registros con error → 0</a:t>
            </a:r>
          </a:p>
        </p:txBody>
      </p:sp>
      <p:sp>
        <p:nvSpPr>
          <p:cNvPr id="16" name="Parallelogram 15"/>
          <p:cNvSpPr/>
          <p:nvPr/>
        </p:nvSpPr>
        <p:spPr>
          <a:xfrm>
            <a:off x="2697480" y="3381248"/>
            <a:ext cx="1645920" cy="0"/>
          </a:xfrm>
          <a:prstGeom prst="parallelogram">
            <a:avLst/>
          </a:prstGeom>
          <a:ln w="9525">
            <a:solidFill>
              <a:srgbClr val="1A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651760" y="3436112"/>
            <a:ext cx="173736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 i="1">
                <a:solidFill>
                  <a:srgbClr val="465564"/>
                </a:solidFill>
              </a:defRPr>
            </a:pPr>
            <a:r>
              <a:rPr sz="1200" dirty="0"/>
              <a:t>Cada </a:t>
            </a:r>
            <a:r>
              <a:rPr sz="1200" dirty="0" err="1"/>
              <a:t>asistencia</a:t>
            </a:r>
            <a:r>
              <a:rPr sz="1200" dirty="0"/>
              <a:t> se </a:t>
            </a:r>
            <a:r>
              <a:rPr sz="1200" dirty="0" err="1"/>
              <a:t>registra</a:t>
            </a:r>
            <a:r>
              <a:rPr sz="1200" dirty="0"/>
              <a:t> </a:t>
            </a:r>
            <a:r>
              <a:rPr sz="1200" dirty="0" err="1"/>
              <a:t>digitalmente</a:t>
            </a:r>
            <a:r>
              <a:rPr sz="1200" dirty="0"/>
              <a:t> </a:t>
            </a:r>
            <a:r>
              <a:rPr sz="1200" dirty="0" err="1"/>
              <a:t>en</a:t>
            </a:r>
            <a:r>
              <a:rPr sz="1200" dirty="0"/>
              <a:t> el </a:t>
            </a:r>
            <a:r>
              <a:rPr sz="1200" dirty="0" err="1"/>
              <a:t>momento</a:t>
            </a:r>
            <a:r>
              <a:rPr sz="1200" dirty="0"/>
              <a:t>, no se </a:t>
            </a:r>
            <a:r>
              <a:rPr sz="1200" dirty="0" err="1"/>
              <a:t>anota</a:t>
            </a:r>
            <a:r>
              <a:rPr sz="1200" dirty="0"/>
              <a:t> </a:t>
            </a:r>
            <a:r>
              <a:rPr sz="1200" dirty="0" err="1"/>
              <a:t>después</a:t>
            </a:r>
            <a:endParaRPr sz="1200" dirty="0"/>
          </a:p>
        </p:txBody>
      </p:sp>
      <p:sp>
        <p:nvSpPr>
          <p:cNvPr id="18" name="Rectangle 17"/>
          <p:cNvSpPr/>
          <p:nvPr/>
        </p:nvSpPr>
        <p:spPr>
          <a:xfrm>
            <a:off x="6720840" y="2438400"/>
            <a:ext cx="1920240" cy="2148840"/>
          </a:xfrm>
          <a:prstGeom prst="rect">
            <a:avLst/>
          </a:prstGeom>
          <a:solidFill>
            <a:srgbClr val="F5F6F8"/>
          </a:solidFill>
          <a:ln w="381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766560" y="2558288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3498DB"/>
                </a:solidFill>
              </a:defRPr>
            </a:pPr>
            <a:r>
              <a:t>-91,7%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66560" y="286918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1E3C64"/>
                </a:solidFill>
              </a:defRPr>
            </a:pPr>
            <a:r>
              <a:t>Información para Decisiones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0" y="3152648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465564"/>
                </a:solidFill>
              </a:defRPr>
            </a:pPr>
            <a:r>
              <a:t>4 h/mes → 20 min/mes</a:t>
            </a:r>
          </a:p>
        </p:txBody>
      </p:sp>
      <p:sp>
        <p:nvSpPr>
          <p:cNvPr id="22" name="Parallelogram 21"/>
          <p:cNvSpPr/>
          <p:nvPr/>
        </p:nvSpPr>
        <p:spPr>
          <a:xfrm>
            <a:off x="6766560" y="3405632"/>
            <a:ext cx="1645920" cy="0"/>
          </a:xfrm>
          <a:prstGeom prst="parallelogram">
            <a:avLst/>
          </a:prstGeom>
          <a:ln w="9525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766560" y="3472688"/>
            <a:ext cx="17373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 i="1">
                <a:solidFill>
                  <a:srgbClr val="465564"/>
                </a:solidFill>
              </a:defRPr>
            </a:pPr>
            <a:r>
              <a:rPr sz="1200" dirty="0"/>
              <a:t>El dashboard </a:t>
            </a:r>
            <a:r>
              <a:rPr sz="1200" dirty="0" err="1"/>
              <a:t>calcula</a:t>
            </a:r>
            <a:r>
              <a:rPr sz="1200" dirty="0"/>
              <a:t> </a:t>
            </a:r>
            <a:r>
              <a:rPr sz="1200" dirty="0" err="1"/>
              <a:t>los</a:t>
            </a:r>
            <a:r>
              <a:rPr sz="1200" dirty="0"/>
              <a:t> </a:t>
            </a:r>
            <a:r>
              <a:rPr sz="1200" dirty="0" err="1"/>
              <a:t>indicadores</a:t>
            </a:r>
            <a:r>
              <a:rPr sz="1200" dirty="0"/>
              <a:t> solo; </a:t>
            </a:r>
            <a:r>
              <a:rPr sz="1200" dirty="0" err="1"/>
              <a:t>nadie</a:t>
            </a:r>
            <a:r>
              <a:rPr sz="1200" dirty="0"/>
              <a:t> arma el </a:t>
            </a:r>
            <a:r>
              <a:rPr sz="1200" dirty="0" err="1"/>
              <a:t>reporte</a:t>
            </a:r>
            <a:r>
              <a:rPr sz="1200" dirty="0"/>
              <a:t> a mano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17720" y="2446528"/>
            <a:ext cx="1920240" cy="2148840"/>
          </a:xfrm>
          <a:prstGeom prst="rect">
            <a:avLst/>
          </a:prstGeom>
          <a:solidFill>
            <a:srgbClr val="F5F6F8"/>
          </a:solidFill>
          <a:ln w="3810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709160" y="2540000"/>
            <a:ext cx="17373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F1C40F"/>
                </a:solidFill>
              </a:defRPr>
            </a:pPr>
            <a:r>
              <a:t>100%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09160" y="2850896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1E3C64"/>
                </a:solidFill>
              </a:defRPr>
            </a:pPr>
            <a:r>
              <a:rPr dirty="0" err="1"/>
              <a:t>Comunicación</a:t>
            </a:r>
            <a:r>
              <a:rPr dirty="0"/>
              <a:t> con </a:t>
            </a:r>
            <a:r>
              <a:rPr dirty="0" err="1"/>
              <a:t>Alumnos</a:t>
            </a:r>
            <a:endParaRPr dirty="0"/>
          </a:p>
        </p:txBody>
      </p:sp>
      <p:sp>
        <p:nvSpPr>
          <p:cNvPr id="27" name="TextBox 26"/>
          <p:cNvSpPr txBox="1"/>
          <p:nvPr/>
        </p:nvSpPr>
        <p:spPr>
          <a:xfrm>
            <a:off x="4709160" y="3134360"/>
            <a:ext cx="17373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465564"/>
                </a:solidFill>
              </a:defRPr>
            </a:pPr>
            <a:r>
              <a:t>80 min/mes → 0 min</a:t>
            </a:r>
          </a:p>
        </p:txBody>
      </p:sp>
      <p:sp>
        <p:nvSpPr>
          <p:cNvPr id="28" name="Parallelogram 27"/>
          <p:cNvSpPr/>
          <p:nvPr/>
        </p:nvSpPr>
        <p:spPr>
          <a:xfrm>
            <a:off x="4754880" y="3399536"/>
            <a:ext cx="1645920" cy="0"/>
          </a:xfrm>
          <a:prstGeom prst="parallelogram">
            <a:avLst/>
          </a:prstGeom>
          <a:ln w="9525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4709160" y="3454400"/>
            <a:ext cx="173736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 i="1">
                <a:solidFill>
                  <a:srgbClr val="465564"/>
                </a:solidFill>
              </a:defRPr>
            </a:pPr>
            <a:r>
              <a:rPr sz="1200" dirty="0"/>
              <a:t>Las </a:t>
            </a:r>
            <a:r>
              <a:rPr sz="1200" dirty="0" err="1"/>
              <a:t>notificaciones</a:t>
            </a:r>
            <a:r>
              <a:rPr sz="1200" dirty="0"/>
              <a:t> se </a:t>
            </a:r>
            <a:r>
              <a:rPr sz="1200" dirty="0" err="1"/>
              <a:t>disparan</a:t>
            </a:r>
            <a:r>
              <a:rPr sz="1200" dirty="0"/>
              <a:t> </a:t>
            </a:r>
            <a:r>
              <a:rPr sz="1200" dirty="0" err="1"/>
              <a:t>solas</a:t>
            </a:r>
            <a:r>
              <a:rPr sz="1200" dirty="0"/>
              <a:t> </a:t>
            </a:r>
            <a:r>
              <a:rPr sz="1200" dirty="0" err="1"/>
              <a:t>cuando</a:t>
            </a:r>
            <a:r>
              <a:rPr sz="1200" dirty="0"/>
              <a:t> </a:t>
            </a:r>
            <a:r>
              <a:rPr sz="1200" dirty="0" err="1"/>
              <a:t>ocurre</a:t>
            </a:r>
            <a:r>
              <a:rPr sz="1200" dirty="0"/>
              <a:t> el </a:t>
            </a:r>
            <a:r>
              <a:rPr sz="1200" dirty="0" err="1"/>
              <a:t>evento</a:t>
            </a:r>
            <a:r>
              <a:rPr sz="1200" dirty="0"/>
              <a:t> (</a:t>
            </a:r>
            <a:r>
              <a:rPr sz="1200" dirty="0" err="1"/>
              <a:t>reserva</a:t>
            </a:r>
            <a:r>
              <a:rPr sz="1200" dirty="0"/>
              <a:t>, </a:t>
            </a:r>
            <a:r>
              <a:rPr sz="1200" dirty="0" err="1"/>
              <a:t>cambio</a:t>
            </a:r>
            <a:r>
              <a:rPr sz="1200" dirty="0"/>
              <a:t>, </a:t>
            </a:r>
            <a:r>
              <a:rPr sz="1200" dirty="0" err="1"/>
              <a:t>recordatorio</a:t>
            </a:r>
            <a:r>
              <a:rPr sz="1200" dirty="0"/>
              <a:t>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57200" y="5220636"/>
            <a:ext cx="8229600" cy="685800"/>
          </a:xfrm>
          <a:prstGeom prst="rect">
            <a:avLst/>
          </a:prstGeom>
          <a:solidFill>
            <a:srgbClr val="1E3C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640080" y="5293788"/>
            <a:ext cx="786384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</a:defRPr>
            </a:pPr>
            <a:r>
              <a:rPr dirty="0"/>
              <a:t>IMPACTO </a:t>
            </a:r>
            <a:r>
              <a:rPr lang="es-CL" dirty="0"/>
              <a:t>DE LA SOLUCIÓN</a:t>
            </a:r>
            <a:r>
              <a:rPr dirty="0"/>
              <a:t>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586396"/>
            <a:ext cx="7863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FFFFFF"/>
                </a:solidFill>
              </a:defRPr>
            </a:pPr>
            <a:r>
              <a:t>15 h 40 min/mes ahorradas al reemplazar tareas manuales por procesos automáticos</a:t>
            </a:r>
          </a:p>
        </p:txBody>
      </p:sp>
      <p:pic>
        <p:nvPicPr>
          <p:cNvPr id="34" name="Imagen 33">
            <a:extLst>
              <a:ext uri="{FF2B5EF4-FFF2-40B4-BE49-F238E27FC236}">
                <a16:creationId xmlns:a16="http://schemas.microsoft.com/office/drawing/2014/main" id="{0EE947E7-0E79-C2BD-4F00-891D2EC2BA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507" y="0"/>
            <a:ext cx="907898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ABC9C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E3C64"/>
                </a:solidFill>
              </a:defRPr>
            </a:pPr>
            <a:r>
              <a:rPr dirty="0" err="1"/>
              <a:t>Cómo</a:t>
            </a:r>
            <a:r>
              <a:rPr dirty="0"/>
              <a:t> </a:t>
            </a:r>
            <a:r>
              <a:rPr lang="es-CL" dirty="0"/>
              <a:t>ayuda </a:t>
            </a:r>
            <a:r>
              <a:rPr dirty="0" err="1"/>
              <a:t>Powerbuilding.gym</a:t>
            </a:r>
            <a:endParaRPr dirty="0"/>
          </a:p>
        </p:txBody>
      </p:sp>
      <p:sp>
        <p:nvSpPr>
          <p:cNvPr id="4" name="Parallelogram 3"/>
          <p:cNvSpPr/>
          <p:nvPr/>
        </p:nvSpPr>
        <p:spPr>
          <a:xfrm>
            <a:off x="457200" y="960120"/>
            <a:ext cx="8229600" cy="0"/>
          </a:xfrm>
          <a:prstGeom prst="parallelogram">
            <a:avLst/>
          </a:prstGeom>
          <a:ln w="25400">
            <a:solidFill>
              <a:srgbClr val="1A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3657600" cy="3291840"/>
          </a:xfrm>
          <a:prstGeom prst="rect">
            <a:avLst/>
          </a:prstGeom>
          <a:solidFill>
            <a:srgbClr val="FFF0F0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13258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E74C3C"/>
                </a:solidFill>
              </a:defRPr>
            </a:pPr>
            <a:r>
              <a:t>ANTES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465564"/>
                </a:solidFill>
              </a:defRPr>
            </a:pPr>
            <a:r>
              <a:t>• WhatsApp para coordinar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2140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465564"/>
                </a:solidFill>
              </a:defRPr>
            </a:pPr>
            <a:r>
              <a:t>• Excel para datos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05456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465564"/>
                </a:solidFill>
              </a:defRPr>
            </a:pPr>
            <a:r>
              <a:t>• Papel para registros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889503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465564"/>
                </a:solidFill>
              </a:defRPr>
            </a:pPr>
            <a:r>
              <a:t>• 4 horas en reportes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73551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465564"/>
                </a:solidFill>
              </a:defRPr>
            </a:pPr>
            <a:r>
              <a:t>• 80 min en comunicaciones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657599"/>
            <a:ext cx="3108960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465564"/>
                </a:solidFill>
              </a:defRPr>
            </a:pPr>
            <a:r>
              <a:rPr dirty="0"/>
              <a:t>• Cero </a:t>
            </a:r>
            <a:r>
              <a:rPr dirty="0" err="1"/>
              <a:t>visibilidad</a:t>
            </a:r>
            <a:r>
              <a:rPr dirty="0"/>
              <a:t> </a:t>
            </a:r>
            <a:r>
              <a:rPr lang="es-CL" dirty="0"/>
              <a:t>online </a:t>
            </a:r>
            <a:r>
              <a:rPr dirty="0"/>
              <a:t>del </a:t>
            </a:r>
            <a:r>
              <a:rPr dirty="0" err="1"/>
              <a:t>negocio</a:t>
            </a:r>
            <a:endParaRPr dirty="0"/>
          </a:p>
        </p:txBody>
      </p:sp>
      <p:sp>
        <p:nvSpPr>
          <p:cNvPr id="13" name="Rectangle 12"/>
          <p:cNvSpPr/>
          <p:nvPr/>
        </p:nvSpPr>
        <p:spPr>
          <a:xfrm>
            <a:off x="5029200" y="1188720"/>
            <a:ext cx="3657600" cy="3291840"/>
          </a:xfrm>
          <a:prstGeom prst="rect">
            <a:avLst/>
          </a:prstGeom>
          <a:solidFill>
            <a:srgbClr val="F0FFFA"/>
          </a:solidFill>
          <a:ln w="25400">
            <a:solidFill>
              <a:srgbClr val="1A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212080" y="1325880"/>
            <a:ext cx="32918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 i="0">
                <a:solidFill>
                  <a:srgbClr val="1ABC9C"/>
                </a:solidFill>
              </a:defRPr>
            </a:pPr>
            <a:r>
              <a:t>DESPUÉS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17373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465564"/>
                </a:solidFill>
              </a:defRPr>
            </a:pPr>
            <a:r>
              <a:t>✓ Sistema único centralizado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12080" y="2121408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465564"/>
                </a:solidFill>
              </a:defRPr>
            </a:pPr>
            <a:r>
              <a:t>✓ Datos en tiempo real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2505456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465564"/>
                </a:solidFill>
              </a:defRPr>
            </a:pPr>
            <a:r>
              <a:t>✓ Asistencia digital verificada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12080" y="2889503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465564"/>
                </a:solidFill>
              </a:defRPr>
            </a:pPr>
            <a:r>
              <a:t>✓ 20 min en reportes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212080" y="3273551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465564"/>
                </a:solidFill>
              </a:defRPr>
            </a:pPr>
            <a:r>
              <a:t>✓ 0 min en comunicaciones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3657599"/>
            <a:ext cx="310896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 i="0">
                <a:solidFill>
                  <a:srgbClr val="465564"/>
                </a:solidFill>
              </a:defRPr>
            </a:pPr>
            <a:r>
              <a:rPr dirty="0"/>
              <a:t>✓ </a:t>
            </a:r>
            <a:r>
              <a:rPr lang="es-CL" dirty="0"/>
              <a:t>Presencia online mucho más fuerte (traducido en más alumnos, por lo tanto, más ingresos)</a:t>
            </a:r>
            <a:endParaRPr dirty="0"/>
          </a:p>
        </p:txBody>
      </p:sp>
      <p:sp>
        <p:nvSpPr>
          <p:cNvPr id="21" name="Rectangle 20"/>
          <p:cNvSpPr/>
          <p:nvPr/>
        </p:nvSpPr>
        <p:spPr>
          <a:xfrm>
            <a:off x="457200" y="4709160"/>
            <a:ext cx="8229600" cy="1463040"/>
          </a:xfrm>
          <a:prstGeom prst="rect">
            <a:avLst/>
          </a:prstGeom>
          <a:solidFill>
            <a:srgbClr val="1E3C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731520" y="4846320"/>
            <a:ext cx="7680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1ABC9C"/>
                </a:solidFill>
              </a:defRPr>
            </a:pPr>
            <a:r>
              <a:t>¿POR QUÉ FUNCIONA?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212080"/>
            <a:ext cx="76809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FFFFFF"/>
                </a:solidFill>
              </a:defRPr>
            </a:pPr>
            <a:r>
              <a:t>Al centralizar reservas, asistencia y pagos en un solo sistema, la información se actualiza sola en el momento en que ocurre. Deja de depender de que alguien la transcriba a mano en Excel o la busque en una conversación de WhatsApp.</a:t>
            </a:r>
          </a:p>
        </p:txBody>
      </p:sp>
      <p:pic>
        <p:nvPicPr>
          <p:cNvPr id="27" name="Imagen 26">
            <a:extLst>
              <a:ext uri="{FF2B5EF4-FFF2-40B4-BE49-F238E27FC236}">
                <a16:creationId xmlns:a16="http://schemas.microsoft.com/office/drawing/2014/main" id="{C59D11D6-FB90-77FD-5B0F-36D76F5987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90" y="0"/>
            <a:ext cx="909362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ABC9C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E3C64"/>
                </a:solidFill>
              </a:defRPr>
            </a:pPr>
            <a:r>
              <a:t>La Solución: Arquitectura Integrada</a:t>
            </a:r>
          </a:p>
        </p:txBody>
      </p:sp>
      <p:sp>
        <p:nvSpPr>
          <p:cNvPr id="4" name="Parallelogram 3"/>
          <p:cNvSpPr/>
          <p:nvPr/>
        </p:nvSpPr>
        <p:spPr>
          <a:xfrm>
            <a:off x="457200" y="960120"/>
            <a:ext cx="8229600" cy="0"/>
          </a:xfrm>
          <a:prstGeom prst="parallelogram">
            <a:avLst/>
          </a:prstGeom>
          <a:ln w="25400">
            <a:solidFill>
              <a:srgbClr val="1A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822960" y="2777067"/>
            <a:ext cx="1645920" cy="1188720"/>
          </a:xfrm>
          <a:prstGeom prst="rect">
            <a:avLst/>
          </a:prstGeom>
          <a:solidFill>
            <a:srgbClr val="F5F6F8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87528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3498DB"/>
                </a:solidFill>
              </a:defRPr>
            </a:pPr>
            <a:r>
              <a:rPr dirty="0"/>
              <a:t>ALUMNO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246120"/>
            <a:ext cx="14630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465564"/>
                </a:solidFill>
              </a:defRPr>
            </a:pPr>
            <a:r>
              <a:rPr sz="1100" dirty="0" err="1"/>
              <a:t>Reserva</a:t>
            </a:r>
            <a:r>
              <a:rPr sz="1100" dirty="0"/>
              <a:t> y </a:t>
            </a:r>
            <a:r>
              <a:rPr sz="1100" dirty="0" err="1"/>
              <a:t>cancela</a:t>
            </a:r>
            <a:r>
              <a:rPr sz="1100" dirty="0"/>
              <a:t> </a:t>
            </a:r>
            <a:r>
              <a:rPr sz="1100" dirty="0" err="1"/>
              <a:t>bloques</a:t>
            </a:r>
            <a:endParaRPr sz="1100" dirty="0"/>
          </a:p>
        </p:txBody>
      </p:sp>
      <p:sp>
        <p:nvSpPr>
          <p:cNvPr id="9" name="Rectangle 8"/>
          <p:cNvSpPr/>
          <p:nvPr/>
        </p:nvSpPr>
        <p:spPr>
          <a:xfrm>
            <a:off x="3291840" y="2194560"/>
            <a:ext cx="2560320" cy="2651760"/>
          </a:xfrm>
          <a:prstGeom prst="rect">
            <a:avLst/>
          </a:prstGeom>
          <a:solidFill>
            <a:srgbClr val="1ABC9C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429000" y="2423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 i="0">
                <a:solidFill>
                  <a:srgbClr val="FFFFFF"/>
                </a:solidFill>
              </a:defRPr>
            </a:pPr>
            <a:r>
              <a:t>APLICACIÓN WEB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29000" y="2743200"/>
            <a:ext cx="228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FFFFFF"/>
                </a:solidFill>
              </a:defRPr>
            </a:pPr>
            <a:r>
              <a:rPr sz="1200" dirty="0" err="1"/>
              <a:t>Reservas</a:t>
            </a:r>
            <a:br>
              <a:rPr sz="1200" dirty="0"/>
            </a:br>
            <a:r>
              <a:rPr sz="1200" dirty="0"/>
              <a:t>Asistencia</a:t>
            </a:r>
            <a:br>
              <a:rPr sz="1200" dirty="0"/>
            </a:br>
            <a:r>
              <a:rPr sz="1200" dirty="0" err="1"/>
              <a:t>Clientes</a:t>
            </a:r>
            <a:br>
              <a:rPr sz="1200" dirty="0"/>
            </a:br>
            <a:r>
              <a:rPr sz="1200" dirty="0"/>
              <a:t>Pagos</a:t>
            </a:r>
            <a:br>
              <a:rPr sz="1200" dirty="0"/>
            </a:br>
            <a:r>
              <a:rPr sz="1200" dirty="0"/>
              <a:t>Dashboard</a:t>
            </a:r>
            <a:br>
              <a:rPr sz="1200" dirty="0"/>
            </a:br>
            <a:r>
              <a:rPr sz="1200" dirty="0" err="1"/>
              <a:t>Reportes</a:t>
            </a:r>
            <a:endParaRPr sz="1200" dirty="0"/>
          </a:p>
        </p:txBody>
      </p:sp>
      <p:sp>
        <p:nvSpPr>
          <p:cNvPr id="12" name="Rectangle 11"/>
          <p:cNvSpPr/>
          <p:nvPr/>
        </p:nvSpPr>
        <p:spPr>
          <a:xfrm>
            <a:off x="6675120" y="2812627"/>
            <a:ext cx="1645920" cy="1188720"/>
          </a:xfrm>
          <a:prstGeom prst="rect">
            <a:avLst/>
          </a:prstGeom>
          <a:solidFill>
            <a:srgbClr val="F5F6F8"/>
          </a:solidFill>
          <a:ln w="25400">
            <a:solidFill>
              <a:srgbClr val="FF6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12280" y="2995507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6450"/>
                </a:solidFill>
              </a:defRPr>
            </a:pPr>
            <a:r>
              <a:t>FRAN (Admin)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66560" y="3269827"/>
            <a:ext cx="1463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465564"/>
                </a:solidFill>
              </a:defRPr>
            </a:pPr>
            <a:r>
              <a:rPr dirty="0" err="1"/>
              <a:t>Gestiona</a:t>
            </a:r>
            <a:r>
              <a:rPr dirty="0"/>
              <a:t> </a:t>
            </a:r>
            <a:r>
              <a:rPr dirty="0" err="1"/>
              <a:t>desde</a:t>
            </a:r>
            <a:r>
              <a:rPr dirty="0"/>
              <a:t> web y </a:t>
            </a:r>
            <a:r>
              <a:rPr dirty="0" err="1"/>
              <a:t>móvil</a:t>
            </a:r>
            <a:endParaRPr dirty="0"/>
          </a:p>
        </p:txBody>
      </p:sp>
      <p:sp>
        <p:nvSpPr>
          <p:cNvPr id="15" name="Rectangle 14"/>
          <p:cNvSpPr/>
          <p:nvPr/>
        </p:nvSpPr>
        <p:spPr>
          <a:xfrm>
            <a:off x="3291840" y="5166360"/>
            <a:ext cx="2560320" cy="594360"/>
          </a:xfrm>
          <a:prstGeom prst="rect">
            <a:avLst/>
          </a:prstGeom>
          <a:solidFill>
            <a:srgbClr val="1E3C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29000" y="525780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 i="0">
                <a:solidFill>
                  <a:srgbClr val="FFFFFF"/>
                </a:solidFill>
              </a:defRPr>
            </a:pPr>
            <a:r>
              <a:t>Node.js / Express + PostgreSQL</a:t>
            </a:r>
          </a:p>
        </p:txBody>
      </p:sp>
      <p:sp>
        <p:nvSpPr>
          <p:cNvPr id="17" name="Parallelogram 16"/>
          <p:cNvSpPr/>
          <p:nvPr/>
        </p:nvSpPr>
        <p:spPr>
          <a:xfrm>
            <a:off x="2468880" y="3406987"/>
            <a:ext cx="822960" cy="0"/>
          </a:xfrm>
          <a:prstGeom prst="parallelogram">
            <a:avLst/>
          </a:prstGeom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Parallelogram 17"/>
          <p:cNvSpPr/>
          <p:nvPr/>
        </p:nvSpPr>
        <p:spPr>
          <a:xfrm>
            <a:off x="5852160" y="3406987"/>
            <a:ext cx="822960" cy="0"/>
          </a:xfrm>
          <a:prstGeom prst="parallelogram">
            <a:avLst/>
          </a:prstGeom>
          <a:ln w="25400">
            <a:solidFill>
              <a:srgbClr val="FF6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Parallelogram 18"/>
          <p:cNvSpPr/>
          <p:nvPr/>
        </p:nvSpPr>
        <p:spPr>
          <a:xfrm>
            <a:off x="4572000" y="4892040"/>
            <a:ext cx="0" cy="274320"/>
          </a:xfrm>
          <a:prstGeom prst="parallelogram">
            <a:avLst/>
          </a:prstGeom>
          <a:ln w="25400">
            <a:solidFill>
              <a:srgbClr val="1A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457200" y="1417320"/>
            <a:ext cx="8229600" cy="640080"/>
          </a:xfrm>
          <a:prstGeom prst="rect">
            <a:avLst/>
          </a:prstGeom>
          <a:solidFill>
            <a:srgbClr val="F5F6F8"/>
          </a:solidFill>
          <a:ln w="19050">
            <a:solidFill>
              <a:srgbClr val="1A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" y="1536192"/>
            <a:ext cx="786384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1">
                <a:solidFill>
                  <a:srgbClr val="1E3C64"/>
                </a:solidFill>
              </a:defRPr>
            </a:pPr>
            <a:r>
              <a:rPr sz="1100" dirty="0"/>
              <a:t>Una </a:t>
            </a:r>
            <a:r>
              <a:rPr sz="1100" dirty="0" err="1"/>
              <a:t>única</a:t>
            </a:r>
            <a:r>
              <a:rPr sz="1100" dirty="0"/>
              <a:t> base de </a:t>
            </a:r>
            <a:r>
              <a:rPr sz="1100" dirty="0" err="1"/>
              <a:t>datos</a:t>
            </a:r>
            <a:r>
              <a:rPr sz="1100" dirty="0"/>
              <a:t> </a:t>
            </a:r>
            <a:r>
              <a:rPr sz="1100" dirty="0" err="1"/>
              <a:t>evita</a:t>
            </a:r>
            <a:r>
              <a:rPr sz="1100" dirty="0"/>
              <a:t> </a:t>
            </a:r>
            <a:r>
              <a:rPr sz="1100" dirty="0" err="1"/>
              <a:t>que</a:t>
            </a:r>
            <a:r>
              <a:rPr sz="1100" dirty="0"/>
              <a:t> la </a:t>
            </a:r>
            <a:r>
              <a:rPr sz="1100" dirty="0" err="1"/>
              <a:t>información</a:t>
            </a:r>
            <a:r>
              <a:rPr sz="1100" dirty="0"/>
              <a:t> se </a:t>
            </a:r>
            <a:r>
              <a:rPr sz="1100" dirty="0" err="1"/>
              <a:t>desactualice</a:t>
            </a:r>
            <a:r>
              <a:rPr sz="1100" dirty="0"/>
              <a:t> o </a:t>
            </a:r>
            <a:r>
              <a:rPr sz="1100" dirty="0" err="1"/>
              <a:t>exista</a:t>
            </a:r>
            <a:r>
              <a:rPr sz="1100" dirty="0"/>
              <a:t> </a:t>
            </a:r>
            <a:r>
              <a:rPr sz="1100" dirty="0" err="1"/>
              <a:t>en</a:t>
            </a:r>
            <a:r>
              <a:rPr sz="1100" dirty="0"/>
              <a:t> dos </a:t>
            </a:r>
            <a:r>
              <a:rPr sz="1100" dirty="0" err="1"/>
              <a:t>lugares</a:t>
            </a:r>
            <a:r>
              <a:rPr sz="1100" dirty="0"/>
              <a:t> — </a:t>
            </a:r>
            <a:r>
              <a:rPr sz="1100" dirty="0" err="1"/>
              <a:t>alumnos</a:t>
            </a:r>
            <a:r>
              <a:rPr sz="1100" dirty="0"/>
              <a:t> y Fran </a:t>
            </a:r>
            <a:r>
              <a:rPr sz="1100" dirty="0" err="1"/>
              <a:t>siempre</a:t>
            </a:r>
            <a:r>
              <a:rPr sz="1100" dirty="0"/>
              <a:t> </a:t>
            </a:r>
            <a:r>
              <a:rPr sz="1100" dirty="0" err="1"/>
              <a:t>ven</a:t>
            </a:r>
            <a:r>
              <a:rPr sz="1100" dirty="0"/>
              <a:t> lo </a:t>
            </a:r>
            <a:r>
              <a:rPr sz="1100" dirty="0" err="1"/>
              <a:t>mismo</a:t>
            </a:r>
            <a:r>
              <a:rPr sz="1100" dirty="0"/>
              <a:t>, al </a:t>
            </a:r>
            <a:r>
              <a:rPr sz="1100" dirty="0" err="1"/>
              <a:t>mismo</a:t>
            </a:r>
            <a:r>
              <a:rPr sz="1100" dirty="0"/>
              <a:t> </a:t>
            </a:r>
            <a:r>
              <a:rPr sz="1100" dirty="0" err="1"/>
              <a:t>tiempo</a:t>
            </a:r>
            <a:endParaRPr sz="1100" dirty="0"/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9266B255-D8B4-0F5C-2547-DC1A391FB8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19418"/>
            <a:ext cx="9144000" cy="661916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E3C64"/>
                </a:solidFill>
              </a:defRPr>
            </a:pPr>
            <a:r>
              <a:t>12 Casos de Uso - 4 Módulos de Funcionalidad</a:t>
            </a:r>
          </a:p>
        </p:txBody>
      </p:sp>
      <p:sp>
        <p:nvSpPr>
          <p:cNvPr id="4" name="Parallelogram 3"/>
          <p:cNvSpPr/>
          <p:nvPr/>
        </p:nvSpPr>
        <p:spPr>
          <a:xfrm>
            <a:off x="457200" y="960120"/>
            <a:ext cx="8229600" cy="0"/>
          </a:xfrm>
          <a:prstGeom prst="parallelogram">
            <a:avLst/>
          </a:prstGeom>
          <a:ln w="25400">
            <a:solidFill>
              <a:srgbClr val="1A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0172" y="1755648"/>
            <a:ext cx="1828800" cy="384048"/>
          </a:xfrm>
          <a:prstGeom prst="rect">
            <a:avLst/>
          </a:prstGeom>
          <a:solidFill>
            <a:srgbClr val="3498DB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6" name="TextBox 5"/>
          <p:cNvSpPr txBox="1"/>
          <p:nvPr/>
        </p:nvSpPr>
        <p:spPr>
          <a:xfrm>
            <a:off x="631612" y="1810512"/>
            <a:ext cx="16459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</a:defRPr>
            </a:pPr>
            <a:r>
              <a:t>Operación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7332" y="2231136"/>
            <a:ext cx="15544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465564"/>
                </a:solidFill>
              </a:defRPr>
            </a:pPr>
            <a:r>
              <a:rPr sz="1100"/>
              <a:t>• CU001 Autenticación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7332" y="2596896"/>
            <a:ext cx="15544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465564"/>
                </a:solidFill>
              </a:defRPr>
            </a:pPr>
            <a:r>
              <a:rPr sz="1100"/>
              <a:t>• CU002 Gestión de bloques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77332" y="2962656"/>
            <a:ext cx="15544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465564"/>
                </a:solidFill>
              </a:defRPr>
            </a:pPr>
            <a:r>
              <a:rPr sz="1100"/>
              <a:t>• CU003 Reservas y cancelaciones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631613" y="4617720"/>
            <a:ext cx="1828800" cy="1188720"/>
          </a:xfrm>
          <a:prstGeom prst="rect">
            <a:avLst/>
          </a:prstGeom>
          <a:solidFill>
            <a:srgbClr val="F5F6F8"/>
          </a:solidFill>
          <a:ln w="1905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23053" y="4709160"/>
            <a:ext cx="164592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1">
                <a:solidFill>
                  <a:srgbClr val="465564"/>
                </a:solidFill>
              </a:defRPr>
            </a:pPr>
            <a:r>
              <a:rPr sz="1400" dirty="0"/>
              <a:t>Evita </a:t>
            </a:r>
            <a:r>
              <a:rPr sz="1400" dirty="0" err="1"/>
              <a:t>choques</a:t>
            </a:r>
            <a:r>
              <a:rPr sz="1400" dirty="0"/>
              <a:t> de </a:t>
            </a:r>
            <a:r>
              <a:rPr sz="1400" dirty="0" err="1"/>
              <a:t>horario</a:t>
            </a:r>
            <a:r>
              <a:rPr sz="1400" dirty="0"/>
              <a:t> y </a:t>
            </a:r>
            <a:r>
              <a:rPr sz="1400" dirty="0" err="1"/>
              <a:t>reservas</a:t>
            </a:r>
            <a:r>
              <a:rPr sz="1400" dirty="0"/>
              <a:t> </a:t>
            </a:r>
            <a:r>
              <a:rPr sz="1400" dirty="0" err="1"/>
              <a:t>dobles</a:t>
            </a:r>
            <a:endParaRPr sz="1400" dirty="0"/>
          </a:p>
        </p:txBody>
      </p:sp>
      <p:sp>
        <p:nvSpPr>
          <p:cNvPr id="12" name="Rectangle 11"/>
          <p:cNvSpPr/>
          <p:nvPr/>
        </p:nvSpPr>
        <p:spPr>
          <a:xfrm>
            <a:off x="2460412" y="1755648"/>
            <a:ext cx="1828800" cy="384048"/>
          </a:xfrm>
          <a:prstGeom prst="rect">
            <a:avLst/>
          </a:prstGeom>
          <a:solidFill>
            <a:srgbClr val="FF645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3" name="TextBox 12"/>
          <p:cNvSpPr txBox="1"/>
          <p:nvPr/>
        </p:nvSpPr>
        <p:spPr>
          <a:xfrm>
            <a:off x="2551852" y="1810512"/>
            <a:ext cx="16459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</a:defRPr>
            </a:pPr>
            <a:r>
              <a:t>Clientes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97572" y="2231136"/>
            <a:ext cx="15544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465564"/>
                </a:solidFill>
              </a:defRPr>
            </a:pPr>
            <a:r>
              <a:rPr sz="1100"/>
              <a:t>• CU004 Gestión de clientes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97572" y="2596896"/>
            <a:ext cx="15544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465564"/>
                </a:solidFill>
              </a:defRPr>
            </a:pPr>
            <a:r>
              <a:rPr sz="1100"/>
              <a:t>• CU005 Registro de asistencia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51853" y="4617720"/>
            <a:ext cx="1828800" cy="1188720"/>
          </a:xfrm>
          <a:prstGeom prst="rect">
            <a:avLst/>
          </a:prstGeom>
          <a:solidFill>
            <a:srgbClr val="F5F6F8"/>
          </a:solidFill>
          <a:ln w="19050">
            <a:solidFill>
              <a:srgbClr val="FF6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2643293" y="4709160"/>
            <a:ext cx="164592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1">
                <a:solidFill>
                  <a:srgbClr val="465564"/>
                </a:solidFill>
              </a:defRPr>
            </a:pPr>
            <a:r>
              <a:rPr sz="1400" dirty="0" err="1"/>
              <a:t>Mantiene</a:t>
            </a:r>
            <a:r>
              <a:rPr sz="1400" dirty="0"/>
              <a:t> el </a:t>
            </a:r>
            <a:r>
              <a:rPr sz="1400" dirty="0" err="1"/>
              <a:t>historial</a:t>
            </a:r>
            <a:r>
              <a:rPr sz="1400" dirty="0"/>
              <a:t> </a:t>
            </a:r>
            <a:r>
              <a:rPr sz="1400" dirty="0" err="1"/>
              <a:t>completo</a:t>
            </a:r>
            <a:r>
              <a:rPr sz="1400" dirty="0"/>
              <a:t> sin </a:t>
            </a:r>
            <a:r>
              <a:rPr sz="1400" dirty="0" err="1"/>
              <a:t>depender</a:t>
            </a:r>
            <a:r>
              <a:rPr sz="1400" dirty="0"/>
              <a:t> del </a:t>
            </a:r>
            <a:r>
              <a:rPr sz="1400" dirty="0" err="1"/>
              <a:t>papel</a:t>
            </a:r>
            <a:endParaRPr sz="1400" dirty="0"/>
          </a:p>
        </p:txBody>
      </p:sp>
      <p:sp>
        <p:nvSpPr>
          <p:cNvPr id="18" name="Rectangle 17"/>
          <p:cNvSpPr/>
          <p:nvPr/>
        </p:nvSpPr>
        <p:spPr>
          <a:xfrm>
            <a:off x="4380652" y="1755648"/>
            <a:ext cx="1828800" cy="384048"/>
          </a:xfrm>
          <a:prstGeom prst="rect">
            <a:avLst/>
          </a:prstGeom>
          <a:solidFill>
            <a:srgbClr val="1ABC9C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19" name="TextBox 18"/>
          <p:cNvSpPr txBox="1"/>
          <p:nvPr/>
        </p:nvSpPr>
        <p:spPr>
          <a:xfrm>
            <a:off x="4472092" y="1810512"/>
            <a:ext cx="16459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</a:defRPr>
            </a:pPr>
            <a:r>
              <a:t>Negocio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17812" y="2231136"/>
            <a:ext cx="15544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465564"/>
                </a:solidFill>
              </a:defRPr>
            </a:pPr>
            <a:r>
              <a:rPr sz="1100"/>
              <a:t>• CU006 Dashboard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17812" y="2596896"/>
            <a:ext cx="15544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465564"/>
                </a:solidFill>
              </a:defRPr>
            </a:pPr>
            <a:r>
              <a:rPr sz="1100"/>
              <a:t>• CU007 Planes y membresías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17812" y="2962656"/>
            <a:ext cx="15544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465564"/>
                </a:solidFill>
              </a:defRPr>
            </a:pPr>
            <a:r>
              <a:rPr sz="1100"/>
              <a:t>• CU008 Pagos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17812" y="3328415"/>
            <a:ext cx="15544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465564"/>
                </a:solidFill>
              </a:defRPr>
            </a:pPr>
            <a:r>
              <a:rPr sz="1100"/>
              <a:t>• CU009 Reportes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72093" y="4617720"/>
            <a:ext cx="1828800" cy="1188720"/>
          </a:xfrm>
          <a:prstGeom prst="rect">
            <a:avLst/>
          </a:prstGeom>
          <a:solidFill>
            <a:srgbClr val="F5F6F8"/>
          </a:solidFill>
          <a:ln w="19050">
            <a:solidFill>
              <a:srgbClr val="1A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63533" y="4709160"/>
            <a:ext cx="1645920" cy="7386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1">
                <a:solidFill>
                  <a:srgbClr val="465564"/>
                </a:solidFill>
              </a:defRPr>
            </a:pPr>
            <a:r>
              <a:rPr sz="1400" dirty="0" err="1"/>
              <a:t>Convierte</a:t>
            </a:r>
            <a:r>
              <a:rPr sz="1400" dirty="0"/>
              <a:t> </a:t>
            </a:r>
            <a:r>
              <a:rPr sz="1400" dirty="0" err="1"/>
              <a:t>los</a:t>
            </a:r>
            <a:r>
              <a:rPr sz="1400" dirty="0"/>
              <a:t> </a:t>
            </a:r>
            <a:r>
              <a:rPr sz="1400" dirty="0" err="1"/>
              <a:t>datos</a:t>
            </a:r>
            <a:r>
              <a:rPr sz="1400" dirty="0"/>
              <a:t> </a:t>
            </a:r>
            <a:r>
              <a:rPr sz="1400" dirty="0" err="1"/>
              <a:t>en</a:t>
            </a:r>
            <a:r>
              <a:rPr sz="1400" dirty="0"/>
              <a:t> </a:t>
            </a:r>
            <a:r>
              <a:rPr sz="1400" dirty="0" err="1"/>
              <a:t>información</a:t>
            </a:r>
            <a:r>
              <a:rPr sz="1400" dirty="0"/>
              <a:t> para </a:t>
            </a:r>
            <a:r>
              <a:rPr sz="1400" dirty="0" err="1"/>
              <a:t>decidir</a:t>
            </a:r>
            <a:endParaRPr sz="1400" dirty="0"/>
          </a:p>
        </p:txBody>
      </p:sp>
      <p:sp>
        <p:nvSpPr>
          <p:cNvPr id="26" name="Rectangle 25"/>
          <p:cNvSpPr/>
          <p:nvPr/>
        </p:nvSpPr>
        <p:spPr>
          <a:xfrm>
            <a:off x="6300892" y="1755648"/>
            <a:ext cx="1828800" cy="384048"/>
          </a:xfrm>
          <a:prstGeom prst="rect">
            <a:avLst/>
          </a:prstGeom>
          <a:solidFill>
            <a:srgbClr val="F1C40F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200"/>
          </a:p>
        </p:txBody>
      </p:sp>
      <p:sp>
        <p:nvSpPr>
          <p:cNvPr id="27" name="TextBox 26"/>
          <p:cNvSpPr txBox="1"/>
          <p:nvPr/>
        </p:nvSpPr>
        <p:spPr>
          <a:xfrm>
            <a:off x="6392331" y="1810512"/>
            <a:ext cx="16459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</a:defRPr>
            </a:pPr>
            <a:r>
              <a:t>Comunicación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38052" y="2231136"/>
            <a:ext cx="15544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465564"/>
                </a:solidFill>
              </a:defRPr>
            </a:pPr>
            <a:r>
              <a:rPr sz="1100"/>
              <a:t>• CU010 Notificaciones automáticas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38052" y="2596896"/>
            <a:ext cx="155448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465564"/>
                </a:solidFill>
              </a:defRPr>
            </a:pPr>
            <a:r>
              <a:rPr sz="1100"/>
              <a:t>• CU011 App móvil PWA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38052" y="2962656"/>
            <a:ext cx="155448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0">
                <a:solidFill>
                  <a:srgbClr val="465564"/>
                </a:solidFill>
              </a:defRPr>
            </a:pPr>
            <a:r>
              <a:rPr sz="1100"/>
              <a:t>• CU012 Catálogos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392333" y="4617720"/>
            <a:ext cx="1828800" cy="1188720"/>
          </a:xfrm>
          <a:prstGeom prst="rect">
            <a:avLst/>
          </a:prstGeom>
          <a:solidFill>
            <a:srgbClr val="F5F6F8"/>
          </a:solidFill>
          <a:ln w="1905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483772" y="4709160"/>
            <a:ext cx="164592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1">
                <a:solidFill>
                  <a:srgbClr val="465564"/>
                </a:solidFill>
              </a:defRPr>
            </a:pPr>
            <a:r>
              <a:rPr sz="1400" dirty="0"/>
              <a:t>Reduce el </a:t>
            </a:r>
            <a:r>
              <a:rPr sz="1400" dirty="0" err="1"/>
              <a:t>tiempo</a:t>
            </a:r>
            <a:r>
              <a:rPr sz="1400" dirty="0"/>
              <a:t> </a:t>
            </a:r>
            <a:r>
              <a:rPr sz="1400" dirty="0" err="1"/>
              <a:t>que</a:t>
            </a:r>
            <a:r>
              <a:rPr sz="1400" dirty="0"/>
              <a:t> Fran </a:t>
            </a:r>
            <a:r>
              <a:rPr sz="1400" dirty="0" err="1"/>
              <a:t>gasta</a:t>
            </a:r>
            <a:r>
              <a:rPr sz="1400" dirty="0"/>
              <a:t> </a:t>
            </a:r>
            <a:r>
              <a:rPr sz="1400" dirty="0" err="1"/>
              <a:t>avisando</a:t>
            </a:r>
            <a:r>
              <a:rPr sz="1400" dirty="0"/>
              <a:t> a </a:t>
            </a:r>
            <a:r>
              <a:rPr sz="1400" dirty="0" err="1"/>
              <a:t>cada</a:t>
            </a:r>
            <a:r>
              <a:rPr sz="1400" dirty="0"/>
              <a:t> </a:t>
            </a:r>
            <a:r>
              <a:rPr sz="1400" dirty="0" err="1"/>
              <a:t>alumno</a:t>
            </a:r>
            <a:endParaRPr sz="1400" dirty="0"/>
          </a:p>
        </p:txBody>
      </p:sp>
      <p:pic>
        <p:nvPicPr>
          <p:cNvPr id="36" name="Imagen 35">
            <a:extLst>
              <a:ext uri="{FF2B5EF4-FFF2-40B4-BE49-F238E27FC236}">
                <a16:creationId xmlns:a16="http://schemas.microsoft.com/office/drawing/2014/main" id="{444F98E7-73A1-EDFE-DE38-A920037EBC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22768" y="0"/>
            <a:ext cx="9528871" cy="68389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 REAL CONSTRUIDO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C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Sitio Web Público — Powerbuilding.gym</a:t>
            </a:r>
            <a:endParaRPr lang="en-US" sz="2600" dirty="0"/>
          </a:p>
        </p:txBody>
      </p:sp>
      <p:sp>
        <p:nvSpPr>
          <p:cNvPr id="4" name="Text 2"/>
          <p:cNvSpPr txBox="1"/>
          <p:nvPr/>
        </p:nvSpPr>
        <p:spPr>
          <a:xfrm>
            <a:off x="3332988" y="996696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C64"/>
                </a:solidFill>
              </a:rPr>
              <a:t>VISTA DESKTOP</a:t>
            </a:r>
            <a:endParaRPr lang="en-US" sz="1100" dirty="0"/>
          </a:p>
        </p:txBody>
      </p:sp>
      <p:pic>
        <p:nvPicPr>
          <p:cNvPr id="10" name="Image 0" descr="/mnt/user-data/uploads/1790095504484_image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85190" y="1664208"/>
            <a:ext cx="4116439" cy="1773935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1115569" y="1374455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655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</a:t>
            </a:r>
            <a:endParaRPr lang="en-US" sz="1050" dirty="0"/>
          </a:p>
        </p:txBody>
      </p:sp>
      <p:pic>
        <p:nvPicPr>
          <p:cNvPr id="17" name="Image 1" descr="/mnt/user-data/uploads/1790095522125_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924044" y="1636777"/>
            <a:ext cx="3834766" cy="1817938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6149342" y="1340734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655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Nosotros</a:t>
            </a:r>
            <a:endParaRPr lang="en-US" sz="1050" dirty="0"/>
          </a:p>
        </p:txBody>
      </p:sp>
      <p:pic>
        <p:nvPicPr>
          <p:cNvPr id="24" name="Image 2" descr="/mnt/user-data/uploads/1790095559120_imag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85190" y="3925630"/>
            <a:ext cx="4116439" cy="2066545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1303020" y="3557016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655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050" dirty="0"/>
          </a:p>
        </p:txBody>
      </p:sp>
      <p:pic>
        <p:nvPicPr>
          <p:cNvPr id="31" name="Image 3" descr="/mnt/user-data/uploads/1790095574302_imag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878325" y="3925630"/>
            <a:ext cx="3995927" cy="2066545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6149342" y="3579876"/>
            <a:ext cx="1691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655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</a:t>
            </a:r>
            <a:endParaRPr lang="en-US" sz="1050" dirty="0"/>
          </a:p>
        </p:txBody>
      </p:sp>
      <p:sp>
        <p:nvSpPr>
          <p:cNvPr id="46" name="Shape 36"/>
          <p:cNvSpPr/>
          <p:nvPr/>
        </p:nvSpPr>
        <p:spPr>
          <a:xfrm>
            <a:off x="457200" y="6355080"/>
            <a:ext cx="8229600" cy="384048"/>
          </a:xfrm>
          <a:prstGeom prst="roundRect">
            <a:avLst>
              <a:gd name="adj" fmla="val 14286"/>
            </a:avLst>
          </a:prstGeom>
          <a:solidFill>
            <a:srgbClr val="F5F6F8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7" name="Text 37"/>
          <p:cNvSpPr txBox="1"/>
          <p:nvPr/>
        </p:nvSpPr>
        <p:spPr>
          <a:xfrm>
            <a:off x="640080" y="635508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655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Capturas reales del sitio publicado (powerbuilding.gym). La vista móvil sirve de referencia directa para la app PWA del proyecto.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F73C9E9-AB90-FBC6-917B-736968FAC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536D0E9-1436-632C-CF2C-EA6A28EE1A48}"/>
              </a:ext>
            </a:extLst>
          </p:cNvPr>
          <p:cNvSpPr txBox="1"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 REAL CONSTRUIDO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5EFF40D-D15F-6183-A935-2B25BDC1FE65}"/>
              </a:ext>
            </a:extLst>
          </p:cNvPr>
          <p:cNvSpPr txBox="1"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C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Sitio Web Público — Powerbuilding.gym</a:t>
            </a:r>
            <a:endParaRPr lang="en-US" sz="2600" dirty="0"/>
          </a:p>
        </p:txBody>
      </p:sp>
      <p:sp>
        <p:nvSpPr>
          <p:cNvPr id="33" name="Text 27">
            <a:extLst>
              <a:ext uri="{FF2B5EF4-FFF2-40B4-BE49-F238E27FC236}">
                <a16:creationId xmlns:a16="http://schemas.microsoft.com/office/drawing/2014/main" id="{D62D143A-DAD9-3FA1-5F52-556F96C7BDB4}"/>
              </a:ext>
            </a:extLst>
          </p:cNvPr>
          <p:cNvSpPr txBox="1"/>
          <p:nvPr/>
        </p:nvSpPr>
        <p:spPr>
          <a:xfrm>
            <a:off x="2606040" y="1074420"/>
            <a:ext cx="6400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3C64"/>
                </a:solidFill>
              </a:rPr>
              <a:t>VISTA MÓVIL — REFERENCIA PARA LA APP PWA</a:t>
            </a:r>
            <a:endParaRPr lang="en-US" sz="1100" dirty="0"/>
          </a:p>
        </p:txBody>
      </p:sp>
      <p:pic>
        <p:nvPicPr>
          <p:cNvPr id="35" name="Image 4" descr="/mnt/user-data/uploads/1790095850953_image.png">
            <a:extLst>
              <a:ext uri="{FF2B5EF4-FFF2-40B4-BE49-F238E27FC236}">
                <a16:creationId xmlns:a16="http://schemas.microsoft.com/office/drawing/2014/main" id="{30DCB91C-73D6-C2A9-62DF-C2EDA6E62FD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30886" y="1664208"/>
            <a:ext cx="1952244" cy="4479886"/>
          </a:xfrm>
          <a:prstGeom prst="rect">
            <a:avLst/>
          </a:prstGeom>
        </p:spPr>
      </p:pic>
      <p:sp>
        <p:nvSpPr>
          <p:cNvPr id="36" name="Text 29">
            <a:extLst>
              <a:ext uri="{FF2B5EF4-FFF2-40B4-BE49-F238E27FC236}">
                <a16:creationId xmlns:a16="http://schemas.microsoft.com/office/drawing/2014/main" id="{6D2C11A0-0179-1307-9B48-65DB69A65168}"/>
              </a:ext>
            </a:extLst>
          </p:cNvPr>
          <p:cNvSpPr txBox="1"/>
          <p:nvPr/>
        </p:nvSpPr>
        <p:spPr>
          <a:xfrm>
            <a:off x="457200" y="1344168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655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Inicio</a:t>
            </a:r>
            <a:endParaRPr lang="en-US" sz="1000" dirty="0"/>
          </a:p>
        </p:txBody>
      </p:sp>
      <p:pic>
        <p:nvPicPr>
          <p:cNvPr id="38" name="Image 5" descr="/mnt/user-data/uploads/1790095863436_image.png">
            <a:extLst>
              <a:ext uri="{FF2B5EF4-FFF2-40B4-BE49-F238E27FC236}">
                <a16:creationId xmlns:a16="http://schemas.microsoft.com/office/drawing/2014/main" id="{BE5F591E-CBE7-892B-8277-78A6FC65A50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521458" y="1660310"/>
            <a:ext cx="1952244" cy="4479886"/>
          </a:xfrm>
          <a:prstGeom prst="rect">
            <a:avLst/>
          </a:prstGeom>
        </p:spPr>
      </p:pic>
      <p:sp>
        <p:nvSpPr>
          <p:cNvPr id="39" name="Text 31">
            <a:extLst>
              <a:ext uri="{FF2B5EF4-FFF2-40B4-BE49-F238E27FC236}">
                <a16:creationId xmlns:a16="http://schemas.microsoft.com/office/drawing/2014/main" id="{A6F1D328-F9EF-E43C-BBBC-01C9E14A52F2}"/>
              </a:ext>
            </a:extLst>
          </p:cNvPr>
          <p:cNvSpPr txBox="1"/>
          <p:nvPr/>
        </p:nvSpPr>
        <p:spPr>
          <a:xfrm>
            <a:off x="2802637" y="1341882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655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Nosotros</a:t>
            </a:r>
            <a:endParaRPr lang="en-US" sz="1000" dirty="0"/>
          </a:p>
        </p:txBody>
      </p:sp>
      <p:pic>
        <p:nvPicPr>
          <p:cNvPr id="41" name="Image 6" descr="/mnt/user-data/uploads/1790095884269_image.png">
            <a:extLst>
              <a:ext uri="{FF2B5EF4-FFF2-40B4-BE49-F238E27FC236}">
                <a16:creationId xmlns:a16="http://schemas.microsoft.com/office/drawing/2014/main" id="{C674EA92-A784-DB61-6A58-D762774772F4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830318" y="1664208"/>
            <a:ext cx="1952244" cy="4479886"/>
          </a:xfrm>
          <a:prstGeom prst="rect">
            <a:avLst/>
          </a:prstGeom>
        </p:spPr>
      </p:pic>
      <p:sp>
        <p:nvSpPr>
          <p:cNvPr id="42" name="Text 33">
            <a:extLst>
              <a:ext uri="{FF2B5EF4-FFF2-40B4-BE49-F238E27FC236}">
                <a16:creationId xmlns:a16="http://schemas.microsoft.com/office/drawing/2014/main" id="{1A3FEA04-8730-CB11-C62D-44D85963B457}"/>
              </a:ext>
            </a:extLst>
          </p:cNvPr>
          <p:cNvSpPr txBox="1"/>
          <p:nvPr/>
        </p:nvSpPr>
        <p:spPr>
          <a:xfrm>
            <a:off x="5042916" y="1321982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655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000" dirty="0"/>
          </a:p>
        </p:txBody>
      </p:sp>
      <p:pic>
        <p:nvPicPr>
          <p:cNvPr id="44" name="Image 7" descr="/mnt/user-data/uploads/1790095895646_image.png">
            <a:extLst>
              <a:ext uri="{FF2B5EF4-FFF2-40B4-BE49-F238E27FC236}">
                <a16:creationId xmlns:a16="http://schemas.microsoft.com/office/drawing/2014/main" id="{9F58C3FA-FA68-7D6A-D3EE-3C7B6E4F44DE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054596" y="1664208"/>
            <a:ext cx="1952244" cy="4479886"/>
          </a:xfrm>
          <a:prstGeom prst="rect">
            <a:avLst/>
          </a:prstGeom>
        </p:spPr>
      </p:pic>
      <p:sp>
        <p:nvSpPr>
          <p:cNvPr id="45" name="Text 35">
            <a:extLst>
              <a:ext uri="{FF2B5EF4-FFF2-40B4-BE49-F238E27FC236}">
                <a16:creationId xmlns:a16="http://schemas.microsoft.com/office/drawing/2014/main" id="{5F163B92-2DD5-6377-8FBA-10204FC645D9}"/>
              </a:ext>
            </a:extLst>
          </p:cNvPr>
          <p:cNvSpPr txBox="1"/>
          <p:nvPr/>
        </p:nvSpPr>
        <p:spPr>
          <a:xfrm>
            <a:off x="7388353" y="1321982"/>
            <a:ext cx="1234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655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Contacto</a:t>
            </a:r>
            <a:endParaRPr lang="en-US" sz="1000" dirty="0"/>
          </a:p>
        </p:txBody>
      </p:sp>
      <p:sp>
        <p:nvSpPr>
          <p:cNvPr id="46" name="Shape 36">
            <a:extLst>
              <a:ext uri="{FF2B5EF4-FFF2-40B4-BE49-F238E27FC236}">
                <a16:creationId xmlns:a16="http://schemas.microsoft.com/office/drawing/2014/main" id="{A0059283-798F-A962-9625-9EC4013D2A62}"/>
              </a:ext>
            </a:extLst>
          </p:cNvPr>
          <p:cNvSpPr/>
          <p:nvPr/>
        </p:nvSpPr>
        <p:spPr>
          <a:xfrm>
            <a:off x="457200" y="6355080"/>
            <a:ext cx="8229600" cy="384048"/>
          </a:xfrm>
          <a:prstGeom prst="roundRect">
            <a:avLst>
              <a:gd name="adj" fmla="val 14286"/>
            </a:avLst>
          </a:prstGeom>
          <a:solidFill>
            <a:srgbClr val="F5F6F8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7" name="Text 37">
            <a:extLst>
              <a:ext uri="{FF2B5EF4-FFF2-40B4-BE49-F238E27FC236}">
                <a16:creationId xmlns:a16="http://schemas.microsoft.com/office/drawing/2014/main" id="{DE33BC22-DBD2-911F-C709-D85429CE2848}"/>
              </a:ext>
            </a:extLst>
          </p:cNvPr>
          <p:cNvSpPr txBox="1"/>
          <p:nvPr/>
        </p:nvSpPr>
        <p:spPr>
          <a:xfrm>
            <a:off x="640080" y="635508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655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Capturas reales del sitio publicado (powerbuilding.gym). La vista móvil sirve de referencia directa para la app PWA del proyecto.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9896232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53BAD2-A97F-50E1-E249-E880593252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9B7D85E5-DAA5-D014-6527-DCCC4209F958}"/>
              </a:ext>
            </a:extLst>
          </p:cNvPr>
          <p:cNvSpPr txBox="1"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 REAL CONSTRUIDO</a:t>
            </a:r>
            <a:endParaRPr lang="en-US" sz="12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871277B-86CA-4801-0BCB-9488A5E74C82}"/>
              </a:ext>
            </a:extLst>
          </p:cNvPr>
          <p:cNvSpPr txBox="1"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C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 Administración — Vista Desktop</a:t>
            </a:r>
            <a:endParaRPr lang="en-US" sz="2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1938B882-5295-C67A-4984-113228DD43F1}"/>
              </a:ext>
            </a:extLst>
          </p:cNvPr>
          <p:cNvSpPr/>
          <p:nvPr/>
        </p:nvSpPr>
        <p:spPr>
          <a:xfrm>
            <a:off x="457200" y="1417320"/>
            <a:ext cx="2606040" cy="1536192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blurRad="76200" dist="25400" dir="5400000" algn="bl" rotWithShape="0">
              <a:srgbClr val="1E3C64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5" name="Shape 3">
            <a:extLst>
              <a:ext uri="{FF2B5EF4-FFF2-40B4-BE49-F238E27FC236}">
                <a16:creationId xmlns:a16="http://schemas.microsoft.com/office/drawing/2014/main" id="{93B5AC37-7C46-EC39-776E-63856CF758D0}"/>
              </a:ext>
            </a:extLst>
          </p:cNvPr>
          <p:cNvSpPr/>
          <p:nvPr/>
        </p:nvSpPr>
        <p:spPr>
          <a:xfrm>
            <a:off x="457200" y="1417320"/>
            <a:ext cx="2606040" cy="201168"/>
          </a:xfrm>
          <a:prstGeom prst="roundRect">
            <a:avLst>
              <a:gd name="adj" fmla="val 36364"/>
            </a:avLst>
          </a:prstGeom>
          <a:solidFill>
            <a:srgbClr val="E9ECE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FC43710F-858E-581D-3228-18C9B457C11B}"/>
              </a:ext>
            </a:extLst>
          </p:cNvPr>
          <p:cNvSpPr/>
          <p:nvPr/>
        </p:nvSpPr>
        <p:spPr>
          <a:xfrm>
            <a:off x="539496" y="1485900"/>
            <a:ext cx="64008" cy="64008"/>
          </a:xfrm>
          <a:prstGeom prst="ellipse">
            <a:avLst/>
          </a:prstGeom>
          <a:solidFill>
            <a:srgbClr val="FF645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04081B17-B178-495E-9F96-99B4D4E9293F}"/>
              </a:ext>
            </a:extLst>
          </p:cNvPr>
          <p:cNvSpPr/>
          <p:nvPr/>
        </p:nvSpPr>
        <p:spPr>
          <a:xfrm>
            <a:off x="676656" y="1485900"/>
            <a:ext cx="64008" cy="64008"/>
          </a:xfrm>
          <a:prstGeom prst="ellipse">
            <a:avLst/>
          </a:prstGeom>
          <a:solidFill>
            <a:srgbClr val="F1C40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A0672F90-F042-DC7A-A005-B4DF136CC353}"/>
              </a:ext>
            </a:extLst>
          </p:cNvPr>
          <p:cNvSpPr/>
          <p:nvPr/>
        </p:nvSpPr>
        <p:spPr>
          <a:xfrm>
            <a:off x="813816" y="1485900"/>
            <a:ext cx="64008" cy="64008"/>
          </a:xfrm>
          <a:prstGeom prst="ellipse">
            <a:avLst/>
          </a:prstGeom>
          <a:solidFill>
            <a:srgbClr val="1ABC9C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9" name="Image 0" descr="/mnt/user-data/uploads/1790095629378_image.png">
            <a:extLst>
              <a:ext uri="{FF2B5EF4-FFF2-40B4-BE49-F238E27FC236}">
                <a16:creationId xmlns:a16="http://schemas.microsoft.com/office/drawing/2014/main" id="{C0B1E537-7997-491B-4A08-5B88FA8C413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75488" y="1618488"/>
            <a:ext cx="2569464" cy="1316736"/>
          </a:xfrm>
          <a:prstGeom prst="rect">
            <a:avLst/>
          </a:prstGeom>
        </p:spPr>
      </p:pic>
      <p:sp>
        <p:nvSpPr>
          <p:cNvPr id="10" name="Text 7">
            <a:extLst>
              <a:ext uri="{FF2B5EF4-FFF2-40B4-BE49-F238E27FC236}">
                <a16:creationId xmlns:a16="http://schemas.microsoft.com/office/drawing/2014/main" id="{2EFE52E0-7A56-98ED-4524-FFAE888BF1F7}"/>
              </a:ext>
            </a:extLst>
          </p:cNvPr>
          <p:cNvSpPr txBox="1"/>
          <p:nvPr/>
        </p:nvSpPr>
        <p:spPr>
          <a:xfrm>
            <a:off x="457200" y="2980944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655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50" dirty="0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780D0C90-46F2-8CBA-01A1-7320C8ADA68A}"/>
              </a:ext>
            </a:extLst>
          </p:cNvPr>
          <p:cNvSpPr/>
          <p:nvPr/>
        </p:nvSpPr>
        <p:spPr>
          <a:xfrm>
            <a:off x="3264408" y="1417320"/>
            <a:ext cx="2606040" cy="1536192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blurRad="76200" dist="25400" dir="5400000" algn="bl" rotWithShape="0">
              <a:srgbClr val="1E3C64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D84B4E72-5B54-F480-54F8-345EB61F5928}"/>
              </a:ext>
            </a:extLst>
          </p:cNvPr>
          <p:cNvSpPr/>
          <p:nvPr/>
        </p:nvSpPr>
        <p:spPr>
          <a:xfrm>
            <a:off x="3264408" y="1417320"/>
            <a:ext cx="2606040" cy="201168"/>
          </a:xfrm>
          <a:prstGeom prst="roundRect">
            <a:avLst>
              <a:gd name="adj" fmla="val 36364"/>
            </a:avLst>
          </a:prstGeom>
          <a:solidFill>
            <a:srgbClr val="E9ECE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B77ADC4D-9A65-5434-B3DE-C5FC9B69F9DF}"/>
              </a:ext>
            </a:extLst>
          </p:cNvPr>
          <p:cNvSpPr/>
          <p:nvPr/>
        </p:nvSpPr>
        <p:spPr>
          <a:xfrm>
            <a:off x="3346704" y="1485900"/>
            <a:ext cx="64008" cy="64008"/>
          </a:xfrm>
          <a:prstGeom prst="ellipse">
            <a:avLst/>
          </a:prstGeom>
          <a:solidFill>
            <a:srgbClr val="FF645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F7154FFE-0845-5330-E09A-7E4D78F51F2A}"/>
              </a:ext>
            </a:extLst>
          </p:cNvPr>
          <p:cNvSpPr/>
          <p:nvPr/>
        </p:nvSpPr>
        <p:spPr>
          <a:xfrm>
            <a:off x="3483864" y="1485900"/>
            <a:ext cx="64008" cy="64008"/>
          </a:xfrm>
          <a:prstGeom prst="ellipse">
            <a:avLst/>
          </a:prstGeom>
          <a:solidFill>
            <a:srgbClr val="F1C40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1D47B43B-6DCE-2201-1DCB-74834FA95263}"/>
              </a:ext>
            </a:extLst>
          </p:cNvPr>
          <p:cNvSpPr/>
          <p:nvPr/>
        </p:nvSpPr>
        <p:spPr>
          <a:xfrm>
            <a:off x="3621024" y="1485900"/>
            <a:ext cx="64008" cy="64008"/>
          </a:xfrm>
          <a:prstGeom prst="ellipse">
            <a:avLst/>
          </a:prstGeom>
          <a:solidFill>
            <a:srgbClr val="1ABC9C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16" name="Image 1" descr="/mnt/user-data/uploads/1790095651085_image.png">
            <a:extLst>
              <a:ext uri="{FF2B5EF4-FFF2-40B4-BE49-F238E27FC236}">
                <a16:creationId xmlns:a16="http://schemas.microsoft.com/office/drawing/2014/main" id="{924486F9-E99B-8BE5-9CF2-78D488AE1AE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282696" y="1618488"/>
            <a:ext cx="2569464" cy="1316736"/>
          </a:xfrm>
          <a:prstGeom prst="rect">
            <a:avLst/>
          </a:prstGeom>
        </p:spPr>
      </p:pic>
      <p:sp>
        <p:nvSpPr>
          <p:cNvPr id="17" name="Text 13">
            <a:extLst>
              <a:ext uri="{FF2B5EF4-FFF2-40B4-BE49-F238E27FC236}">
                <a16:creationId xmlns:a16="http://schemas.microsoft.com/office/drawing/2014/main" id="{B7998489-BAEF-44EA-804E-D5EA1CF9F8A7}"/>
              </a:ext>
            </a:extLst>
          </p:cNvPr>
          <p:cNvSpPr txBox="1"/>
          <p:nvPr/>
        </p:nvSpPr>
        <p:spPr>
          <a:xfrm>
            <a:off x="3264408" y="2980944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655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Clientes</a:t>
            </a:r>
            <a:endParaRPr lang="en-US" sz="1050" dirty="0"/>
          </a:p>
        </p:txBody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27D1F721-5D07-35A4-B2CE-56973254D17D}"/>
              </a:ext>
            </a:extLst>
          </p:cNvPr>
          <p:cNvSpPr/>
          <p:nvPr/>
        </p:nvSpPr>
        <p:spPr>
          <a:xfrm>
            <a:off x="6071616" y="1417320"/>
            <a:ext cx="2606040" cy="1536192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blurRad="76200" dist="25400" dir="5400000" algn="bl" rotWithShape="0">
              <a:srgbClr val="1E3C64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19" name="Shape 15">
            <a:extLst>
              <a:ext uri="{FF2B5EF4-FFF2-40B4-BE49-F238E27FC236}">
                <a16:creationId xmlns:a16="http://schemas.microsoft.com/office/drawing/2014/main" id="{ECF6CA6D-0D7E-302F-AECD-27BA89F630A8}"/>
              </a:ext>
            </a:extLst>
          </p:cNvPr>
          <p:cNvSpPr/>
          <p:nvPr/>
        </p:nvSpPr>
        <p:spPr>
          <a:xfrm>
            <a:off x="6071616" y="1417320"/>
            <a:ext cx="2606040" cy="201168"/>
          </a:xfrm>
          <a:prstGeom prst="roundRect">
            <a:avLst>
              <a:gd name="adj" fmla="val 36364"/>
            </a:avLst>
          </a:prstGeom>
          <a:solidFill>
            <a:srgbClr val="E9ECE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0" name="Shape 16">
            <a:extLst>
              <a:ext uri="{FF2B5EF4-FFF2-40B4-BE49-F238E27FC236}">
                <a16:creationId xmlns:a16="http://schemas.microsoft.com/office/drawing/2014/main" id="{7355A7B5-C8FF-8102-68D4-7D4ACF69A43A}"/>
              </a:ext>
            </a:extLst>
          </p:cNvPr>
          <p:cNvSpPr/>
          <p:nvPr/>
        </p:nvSpPr>
        <p:spPr>
          <a:xfrm>
            <a:off x="6153912" y="1485900"/>
            <a:ext cx="64008" cy="64008"/>
          </a:xfrm>
          <a:prstGeom prst="ellipse">
            <a:avLst/>
          </a:prstGeom>
          <a:solidFill>
            <a:srgbClr val="FF645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1" name="Shape 17">
            <a:extLst>
              <a:ext uri="{FF2B5EF4-FFF2-40B4-BE49-F238E27FC236}">
                <a16:creationId xmlns:a16="http://schemas.microsoft.com/office/drawing/2014/main" id="{7C97E608-DFA9-9A74-3269-DD58DDD8A9A5}"/>
              </a:ext>
            </a:extLst>
          </p:cNvPr>
          <p:cNvSpPr/>
          <p:nvPr/>
        </p:nvSpPr>
        <p:spPr>
          <a:xfrm>
            <a:off x="6291072" y="1485900"/>
            <a:ext cx="64008" cy="64008"/>
          </a:xfrm>
          <a:prstGeom prst="ellipse">
            <a:avLst/>
          </a:prstGeom>
          <a:solidFill>
            <a:srgbClr val="F1C40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2" name="Shape 18">
            <a:extLst>
              <a:ext uri="{FF2B5EF4-FFF2-40B4-BE49-F238E27FC236}">
                <a16:creationId xmlns:a16="http://schemas.microsoft.com/office/drawing/2014/main" id="{E9EB70ED-43A5-778B-AE02-159E3FDA24FC}"/>
              </a:ext>
            </a:extLst>
          </p:cNvPr>
          <p:cNvSpPr/>
          <p:nvPr/>
        </p:nvSpPr>
        <p:spPr>
          <a:xfrm>
            <a:off x="6428232" y="1485900"/>
            <a:ext cx="64008" cy="64008"/>
          </a:xfrm>
          <a:prstGeom prst="ellipse">
            <a:avLst/>
          </a:prstGeom>
          <a:solidFill>
            <a:srgbClr val="1ABC9C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23" name="Image 2" descr="/mnt/user-data/uploads/1790095668255_image.png">
            <a:extLst>
              <a:ext uri="{FF2B5EF4-FFF2-40B4-BE49-F238E27FC236}">
                <a16:creationId xmlns:a16="http://schemas.microsoft.com/office/drawing/2014/main" id="{FF72DC7F-7551-1DEF-AA97-F1DC05A4E73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089904" y="1618488"/>
            <a:ext cx="2569464" cy="1316736"/>
          </a:xfrm>
          <a:prstGeom prst="rect">
            <a:avLst/>
          </a:prstGeom>
        </p:spPr>
      </p:pic>
      <p:sp>
        <p:nvSpPr>
          <p:cNvPr id="24" name="Text 19">
            <a:extLst>
              <a:ext uri="{FF2B5EF4-FFF2-40B4-BE49-F238E27FC236}">
                <a16:creationId xmlns:a16="http://schemas.microsoft.com/office/drawing/2014/main" id="{888882C3-7CB7-FB93-4722-E2993CAEFCA3}"/>
              </a:ext>
            </a:extLst>
          </p:cNvPr>
          <p:cNvSpPr txBox="1"/>
          <p:nvPr/>
        </p:nvSpPr>
        <p:spPr>
          <a:xfrm>
            <a:off x="6071616" y="2980944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655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Bloques de Entrenamiento</a:t>
            </a:r>
            <a:endParaRPr lang="en-US" sz="1050" dirty="0"/>
          </a:p>
        </p:txBody>
      </p:sp>
      <p:sp>
        <p:nvSpPr>
          <p:cNvPr id="25" name="Shape 20">
            <a:extLst>
              <a:ext uri="{FF2B5EF4-FFF2-40B4-BE49-F238E27FC236}">
                <a16:creationId xmlns:a16="http://schemas.microsoft.com/office/drawing/2014/main" id="{15A1A2EA-BF35-6F48-131A-92EA01304D85}"/>
              </a:ext>
            </a:extLst>
          </p:cNvPr>
          <p:cNvSpPr/>
          <p:nvPr/>
        </p:nvSpPr>
        <p:spPr>
          <a:xfrm>
            <a:off x="457200" y="3703320"/>
            <a:ext cx="40233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blurRad="76200" dist="25400" dir="5400000" algn="bl" rotWithShape="0">
              <a:srgbClr val="1E3C64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26" name="Shape 21">
            <a:extLst>
              <a:ext uri="{FF2B5EF4-FFF2-40B4-BE49-F238E27FC236}">
                <a16:creationId xmlns:a16="http://schemas.microsoft.com/office/drawing/2014/main" id="{309CFFD9-2843-BCE7-FC21-F8AFADD5E5CC}"/>
              </a:ext>
            </a:extLst>
          </p:cNvPr>
          <p:cNvSpPr/>
          <p:nvPr/>
        </p:nvSpPr>
        <p:spPr>
          <a:xfrm>
            <a:off x="457200" y="3703320"/>
            <a:ext cx="4023360" cy="201168"/>
          </a:xfrm>
          <a:prstGeom prst="roundRect">
            <a:avLst>
              <a:gd name="adj" fmla="val 36364"/>
            </a:avLst>
          </a:prstGeom>
          <a:solidFill>
            <a:srgbClr val="E9ECE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7" name="Shape 22">
            <a:extLst>
              <a:ext uri="{FF2B5EF4-FFF2-40B4-BE49-F238E27FC236}">
                <a16:creationId xmlns:a16="http://schemas.microsoft.com/office/drawing/2014/main" id="{4C76E403-DEAB-56C2-EC39-B2C4F40E1276}"/>
              </a:ext>
            </a:extLst>
          </p:cNvPr>
          <p:cNvSpPr/>
          <p:nvPr/>
        </p:nvSpPr>
        <p:spPr>
          <a:xfrm>
            <a:off x="539496" y="3771900"/>
            <a:ext cx="64008" cy="64008"/>
          </a:xfrm>
          <a:prstGeom prst="ellipse">
            <a:avLst/>
          </a:prstGeom>
          <a:solidFill>
            <a:srgbClr val="FF645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8" name="Shape 23">
            <a:extLst>
              <a:ext uri="{FF2B5EF4-FFF2-40B4-BE49-F238E27FC236}">
                <a16:creationId xmlns:a16="http://schemas.microsoft.com/office/drawing/2014/main" id="{12F51FF9-00C8-FCBE-5448-24DD388CCB16}"/>
              </a:ext>
            </a:extLst>
          </p:cNvPr>
          <p:cNvSpPr/>
          <p:nvPr/>
        </p:nvSpPr>
        <p:spPr>
          <a:xfrm>
            <a:off x="676656" y="3771900"/>
            <a:ext cx="64008" cy="64008"/>
          </a:xfrm>
          <a:prstGeom prst="ellipse">
            <a:avLst/>
          </a:prstGeom>
          <a:solidFill>
            <a:srgbClr val="F1C40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29" name="Shape 24">
            <a:extLst>
              <a:ext uri="{FF2B5EF4-FFF2-40B4-BE49-F238E27FC236}">
                <a16:creationId xmlns:a16="http://schemas.microsoft.com/office/drawing/2014/main" id="{CDD14797-6062-3329-0F40-68944A07A7F5}"/>
              </a:ext>
            </a:extLst>
          </p:cNvPr>
          <p:cNvSpPr/>
          <p:nvPr/>
        </p:nvSpPr>
        <p:spPr>
          <a:xfrm>
            <a:off x="813816" y="3771900"/>
            <a:ext cx="64008" cy="64008"/>
          </a:xfrm>
          <a:prstGeom prst="ellipse">
            <a:avLst/>
          </a:prstGeom>
          <a:solidFill>
            <a:srgbClr val="1ABC9C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30" name="Image 3" descr="/mnt/user-data/uploads/1790095682025_image.png">
            <a:extLst>
              <a:ext uri="{FF2B5EF4-FFF2-40B4-BE49-F238E27FC236}">
                <a16:creationId xmlns:a16="http://schemas.microsoft.com/office/drawing/2014/main" id="{0E69D91B-8D3D-EEFB-2BED-3921A381B966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475488" y="3904488"/>
            <a:ext cx="3986784" cy="1655064"/>
          </a:xfrm>
          <a:prstGeom prst="rect">
            <a:avLst/>
          </a:prstGeom>
        </p:spPr>
      </p:pic>
      <p:sp>
        <p:nvSpPr>
          <p:cNvPr id="31" name="Text 25">
            <a:extLst>
              <a:ext uri="{FF2B5EF4-FFF2-40B4-BE49-F238E27FC236}">
                <a16:creationId xmlns:a16="http://schemas.microsoft.com/office/drawing/2014/main" id="{E67D503B-1C81-644C-DA25-80FDDAF30558}"/>
              </a:ext>
            </a:extLst>
          </p:cNvPr>
          <p:cNvSpPr txBox="1"/>
          <p:nvPr/>
        </p:nvSpPr>
        <p:spPr>
          <a:xfrm>
            <a:off x="457200" y="560527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655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Asistencia</a:t>
            </a:r>
            <a:endParaRPr lang="en-US" sz="1050" dirty="0"/>
          </a:p>
        </p:txBody>
      </p:sp>
      <p:sp>
        <p:nvSpPr>
          <p:cNvPr id="32" name="Shape 26">
            <a:extLst>
              <a:ext uri="{FF2B5EF4-FFF2-40B4-BE49-F238E27FC236}">
                <a16:creationId xmlns:a16="http://schemas.microsoft.com/office/drawing/2014/main" id="{30D00728-11E2-17C8-6CB8-39B1D238FD72}"/>
              </a:ext>
            </a:extLst>
          </p:cNvPr>
          <p:cNvSpPr/>
          <p:nvPr/>
        </p:nvSpPr>
        <p:spPr>
          <a:xfrm>
            <a:off x="4754880" y="3703320"/>
            <a:ext cx="4023360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E2E5E9"/>
            </a:solidFill>
            <a:prstDash val="solid"/>
          </a:ln>
          <a:effectLst>
            <a:outerShdw blurRad="76200" dist="25400" dir="5400000" algn="bl" rotWithShape="0">
              <a:srgbClr val="1E3C64">
                <a:alpha val="18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sp>
        <p:nvSpPr>
          <p:cNvPr id="33" name="Shape 27">
            <a:extLst>
              <a:ext uri="{FF2B5EF4-FFF2-40B4-BE49-F238E27FC236}">
                <a16:creationId xmlns:a16="http://schemas.microsoft.com/office/drawing/2014/main" id="{E30EF99B-BCD3-8FD9-AA69-9F2E62FAB6DA}"/>
              </a:ext>
            </a:extLst>
          </p:cNvPr>
          <p:cNvSpPr/>
          <p:nvPr/>
        </p:nvSpPr>
        <p:spPr>
          <a:xfrm>
            <a:off x="4754880" y="3703320"/>
            <a:ext cx="4023360" cy="201168"/>
          </a:xfrm>
          <a:prstGeom prst="roundRect">
            <a:avLst>
              <a:gd name="adj" fmla="val 36364"/>
            </a:avLst>
          </a:prstGeom>
          <a:solidFill>
            <a:srgbClr val="E9ECE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4" name="Shape 28">
            <a:extLst>
              <a:ext uri="{FF2B5EF4-FFF2-40B4-BE49-F238E27FC236}">
                <a16:creationId xmlns:a16="http://schemas.microsoft.com/office/drawing/2014/main" id="{30E811AA-C16C-081B-AC68-0F52A192CB3B}"/>
              </a:ext>
            </a:extLst>
          </p:cNvPr>
          <p:cNvSpPr/>
          <p:nvPr/>
        </p:nvSpPr>
        <p:spPr>
          <a:xfrm>
            <a:off x="4837176" y="3771900"/>
            <a:ext cx="64008" cy="64008"/>
          </a:xfrm>
          <a:prstGeom prst="ellipse">
            <a:avLst/>
          </a:prstGeom>
          <a:solidFill>
            <a:srgbClr val="FF6450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5" name="Shape 29">
            <a:extLst>
              <a:ext uri="{FF2B5EF4-FFF2-40B4-BE49-F238E27FC236}">
                <a16:creationId xmlns:a16="http://schemas.microsoft.com/office/drawing/2014/main" id="{93604832-A799-3FA0-7B0B-D5B705589BEF}"/>
              </a:ext>
            </a:extLst>
          </p:cNvPr>
          <p:cNvSpPr/>
          <p:nvPr/>
        </p:nvSpPr>
        <p:spPr>
          <a:xfrm>
            <a:off x="4974336" y="3771900"/>
            <a:ext cx="64008" cy="64008"/>
          </a:xfrm>
          <a:prstGeom prst="ellipse">
            <a:avLst/>
          </a:prstGeom>
          <a:solidFill>
            <a:srgbClr val="F1C40F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36" name="Shape 30">
            <a:extLst>
              <a:ext uri="{FF2B5EF4-FFF2-40B4-BE49-F238E27FC236}">
                <a16:creationId xmlns:a16="http://schemas.microsoft.com/office/drawing/2014/main" id="{8185BD12-BA12-C6AE-9A4A-E35FFD451605}"/>
              </a:ext>
            </a:extLst>
          </p:cNvPr>
          <p:cNvSpPr/>
          <p:nvPr/>
        </p:nvSpPr>
        <p:spPr>
          <a:xfrm>
            <a:off x="5111496" y="3771900"/>
            <a:ext cx="64008" cy="64008"/>
          </a:xfrm>
          <a:prstGeom prst="ellipse">
            <a:avLst/>
          </a:prstGeom>
          <a:solidFill>
            <a:srgbClr val="1ABC9C"/>
          </a:solidFill>
          <a:ln/>
        </p:spPr>
        <p:txBody>
          <a:bodyPr/>
          <a:lstStyle/>
          <a:p>
            <a:endParaRPr lang="es-CL"/>
          </a:p>
        </p:txBody>
      </p:sp>
      <p:pic>
        <p:nvPicPr>
          <p:cNvPr id="37" name="Image 4" descr="/mnt/user-data/uploads/1790095699543_image.png">
            <a:extLst>
              <a:ext uri="{FF2B5EF4-FFF2-40B4-BE49-F238E27FC236}">
                <a16:creationId xmlns:a16="http://schemas.microsoft.com/office/drawing/2014/main" id="{2D581F8A-4AEE-AE77-7D06-2202493FF257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4773168" y="3904488"/>
            <a:ext cx="3986784" cy="1655064"/>
          </a:xfrm>
          <a:prstGeom prst="rect">
            <a:avLst/>
          </a:prstGeom>
        </p:spPr>
      </p:pic>
      <p:sp>
        <p:nvSpPr>
          <p:cNvPr id="38" name="Text 31">
            <a:extLst>
              <a:ext uri="{FF2B5EF4-FFF2-40B4-BE49-F238E27FC236}">
                <a16:creationId xmlns:a16="http://schemas.microsoft.com/office/drawing/2014/main" id="{B2833CBF-3D2C-4BA0-FBCC-2E815545BBD6}"/>
              </a:ext>
            </a:extLst>
          </p:cNvPr>
          <p:cNvSpPr txBox="1"/>
          <p:nvPr/>
        </p:nvSpPr>
        <p:spPr>
          <a:xfrm>
            <a:off x="4754880" y="5605272"/>
            <a:ext cx="40233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655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Negocio</a:t>
            </a:r>
            <a:endParaRPr lang="en-US" sz="1050" dirty="0"/>
          </a:p>
        </p:txBody>
      </p:sp>
      <p:sp>
        <p:nvSpPr>
          <p:cNvPr id="39" name="Shape 32">
            <a:extLst>
              <a:ext uri="{FF2B5EF4-FFF2-40B4-BE49-F238E27FC236}">
                <a16:creationId xmlns:a16="http://schemas.microsoft.com/office/drawing/2014/main" id="{34DEF4B0-6496-9368-7AFB-58E6E9408707}"/>
              </a:ext>
            </a:extLst>
          </p:cNvPr>
          <p:cNvSpPr/>
          <p:nvPr/>
        </p:nvSpPr>
        <p:spPr>
          <a:xfrm>
            <a:off x="457200" y="6355080"/>
            <a:ext cx="8229600" cy="384048"/>
          </a:xfrm>
          <a:prstGeom prst="roundRect">
            <a:avLst>
              <a:gd name="adj" fmla="val 14286"/>
            </a:avLst>
          </a:prstGeom>
          <a:solidFill>
            <a:srgbClr val="F5F6F8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40" name="Text 33">
            <a:extLst>
              <a:ext uri="{FF2B5EF4-FFF2-40B4-BE49-F238E27FC236}">
                <a16:creationId xmlns:a16="http://schemas.microsoft.com/office/drawing/2014/main" id="{9ADD4563-A4ED-291B-4289-EB410179DE94}"/>
              </a:ext>
            </a:extLst>
          </p:cNvPr>
          <p:cNvSpPr txBox="1"/>
          <p:nvPr/>
        </p:nvSpPr>
        <p:spPr>
          <a:xfrm>
            <a:off x="640080" y="635508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655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panel que usa Fran para administrar reservas, clientes, asistencia e indicadores del negocio — todo en un solo lugar.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28079679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 REAL CONSTRUIDO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30352"/>
            <a:ext cx="8229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3C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Panel de Administración — Vista Compacta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600200"/>
            <a:ext cx="1737360" cy="3840480"/>
          </a:xfrm>
          <a:prstGeom prst="roundRect">
            <a:avLst>
              <a:gd name="adj" fmla="val 7368"/>
            </a:avLst>
          </a:prstGeom>
          <a:solidFill>
            <a:srgbClr val="111318"/>
          </a:solidFill>
          <a:ln/>
          <a:effectLst>
            <a:outerShdw blurRad="76200" dist="25400" dir="5400000" algn="bl" rotWithShape="0">
              <a:srgbClr val="1E3C64">
                <a:alpha val="2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pic>
        <p:nvPicPr>
          <p:cNvPr id="5" name="Image 0" descr="/mnt/user-data/uploads/1790095786486_image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548640" y="1645920"/>
            <a:ext cx="1645920" cy="37490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365760" y="546811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655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87752" y="1600200"/>
            <a:ext cx="1737360" cy="3840480"/>
          </a:xfrm>
          <a:prstGeom prst="roundRect">
            <a:avLst>
              <a:gd name="adj" fmla="val 7368"/>
            </a:avLst>
          </a:prstGeom>
          <a:solidFill>
            <a:srgbClr val="111318"/>
          </a:solidFill>
          <a:ln/>
          <a:effectLst>
            <a:outerShdw blurRad="76200" dist="25400" dir="5400000" algn="bl" rotWithShape="0">
              <a:srgbClr val="1E3C64">
                <a:alpha val="2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pic>
        <p:nvPicPr>
          <p:cNvPr id="8" name="Image 1" descr="/mnt/user-data/uploads/1790095805089_ima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633472" y="1645920"/>
            <a:ext cx="1645920" cy="374904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2450592" y="546811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655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4672584" y="1600200"/>
            <a:ext cx="1737360" cy="3840480"/>
          </a:xfrm>
          <a:prstGeom prst="roundRect">
            <a:avLst>
              <a:gd name="adj" fmla="val 7368"/>
            </a:avLst>
          </a:prstGeom>
          <a:solidFill>
            <a:srgbClr val="111318"/>
          </a:solidFill>
          <a:ln/>
          <a:effectLst>
            <a:outerShdw blurRad="76200" dist="25400" dir="5400000" algn="bl" rotWithShape="0">
              <a:srgbClr val="1E3C64">
                <a:alpha val="2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pic>
        <p:nvPicPr>
          <p:cNvPr id="11" name="Image 2" descr="/mnt/user-data/uploads/1790095773912_image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18304" y="1645920"/>
            <a:ext cx="1645920" cy="374904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4535424" y="546811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655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Asistencia</a:t>
            </a:r>
            <a:endParaRPr lang="en-US" sz="1000" dirty="0"/>
          </a:p>
        </p:txBody>
      </p:sp>
      <p:sp>
        <p:nvSpPr>
          <p:cNvPr id="13" name="Shape 8"/>
          <p:cNvSpPr/>
          <p:nvPr/>
        </p:nvSpPr>
        <p:spPr>
          <a:xfrm>
            <a:off x="6757416" y="1600200"/>
            <a:ext cx="1737360" cy="3840480"/>
          </a:xfrm>
          <a:prstGeom prst="roundRect">
            <a:avLst>
              <a:gd name="adj" fmla="val 7368"/>
            </a:avLst>
          </a:prstGeom>
          <a:solidFill>
            <a:srgbClr val="111318"/>
          </a:solidFill>
          <a:ln/>
          <a:effectLst>
            <a:outerShdw blurRad="76200" dist="25400" dir="5400000" algn="bl" rotWithShape="0">
              <a:srgbClr val="1E3C64">
                <a:alpha val="22000"/>
              </a:srgbClr>
            </a:outerShdw>
          </a:effectLst>
        </p:spPr>
        <p:txBody>
          <a:bodyPr/>
          <a:lstStyle/>
          <a:p>
            <a:endParaRPr lang="es-CL"/>
          </a:p>
        </p:txBody>
      </p:sp>
      <p:pic>
        <p:nvPicPr>
          <p:cNvPr id="14" name="Image 3" descr="/mnt/user-data/uploads/1790095758943_image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6803136" y="1645920"/>
            <a:ext cx="1645920" cy="3749040"/>
          </a:xfrm>
          <a:prstGeom prst="rect">
            <a:avLst/>
          </a:prstGeom>
        </p:spPr>
      </p:pic>
      <p:sp>
        <p:nvSpPr>
          <p:cNvPr id="15" name="Text 9"/>
          <p:cNvSpPr txBox="1"/>
          <p:nvPr/>
        </p:nvSpPr>
        <p:spPr>
          <a:xfrm>
            <a:off x="6620256" y="5468112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4655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Negocio</a:t>
            </a:r>
            <a:endParaRPr lang="en-US" sz="1000" dirty="0"/>
          </a:p>
        </p:txBody>
      </p:sp>
      <p:sp>
        <p:nvSpPr>
          <p:cNvPr id="16" name="Shape 10"/>
          <p:cNvSpPr/>
          <p:nvPr/>
        </p:nvSpPr>
        <p:spPr>
          <a:xfrm>
            <a:off x="457200" y="6355080"/>
            <a:ext cx="8229600" cy="384048"/>
          </a:xfrm>
          <a:prstGeom prst="roundRect">
            <a:avLst>
              <a:gd name="adj" fmla="val 14286"/>
            </a:avLst>
          </a:prstGeom>
          <a:solidFill>
            <a:srgbClr val="F5F6F8"/>
          </a:solidFill>
          <a:ln/>
        </p:spPr>
        <p:txBody>
          <a:bodyPr/>
          <a:lstStyle/>
          <a:p>
            <a:endParaRPr lang="es-CL"/>
          </a:p>
        </p:txBody>
      </p:sp>
      <p:sp>
        <p:nvSpPr>
          <p:cNvPr id="17" name="Text 11"/>
          <p:cNvSpPr txBox="1"/>
          <p:nvPr/>
        </p:nvSpPr>
        <p:spPr>
          <a:xfrm>
            <a:off x="640080" y="635508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6556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mismo panel administrativo, en una vista compacta de menor ancho — la navegación se colapsa a un riel de íconos.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73152" cy="6858000"/>
          </a:xfrm>
          <a:prstGeom prst="rect">
            <a:avLst/>
          </a:prstGeom>
          <a:solidFill>
            <a:srgbClr val="1ABC9C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E3C64"/>
                </a:solidFill>
              </a:defRPr>
            </a:pPr>
            <a:r>
              <a:t>Plan de Ejecución: 18 Semanas</a:t>
            </a:r>
          </a:p>
        </p:txBody>
      </p:sp>
      <p:sp>
        <p:nvSpPr>
          <p:cNvPr id="4" name="Parallelogram 3"/>
          <p:cNvSpPr/>
          <p:nvPr/>
        </p:nvSpPr>
        <p:spPr>
          <a:xfrm>
            <a:off x="457200" y="960120"/>
            <a:ext cx="8229600" cy="0"/>
          </a:xfrm>
          <a:prstGeom prst="parallelogram">
            <a:avLst/>
          </a:prstGeom>
          <a:ln w="25400">
            <a:solidFill>
              <a:srgbClr val="1A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5" name="TextBox 4"/>
          <p:cNvSpPr txBox="1"/>
          <p:nvPr/>
        </p:nvSpPr>
        <p:spPr>
          <a:xfrm>
            <a:off x="457200" y="1097280"/>
            <a:ext cx="82296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 i="0">
                <a:solidFill>
                  <a:srgbClr val="9BA5AF"/>
                </a:solidFill>
              </a:defRPr>
            </a:pPr>
            <a:r>
              <a:rPr sz="1200"/>
              <a:t>5 Fases | 339 Horas-Hombre | $6.959.600 Precio Total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63040"/>
            <a:ext cx="1554480" cy="3291840"/>
          </a:xfrm>
          <a:prstGeom prst="rect">
            <a:avLst/>
          </a:prstGeom>
          <a:solidFill>
            <a:srgbClr val="1E3C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7" name="TextBox 6"/>
          <p:cNvSpPr txBox="1"/>
          <p:nvPr/>
        </p:nvSpPr>
        <p:spPr>
          <a:xfrm>
            <a:off x="438912" y="1572768"/>
            <a:ext cx="14173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</a:defRPr>
            </a:pPr>
            <a:r>
              <a:rPr sz="1600"/>
              <a:t>FASE 1</a:t>
            </a:r>
            <a:br>
              <a:rPr sz="1600"/>
            </a:br>
            <a:r>
              <a:rPr sz="1600"/>
              <a:t>Planificación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2" y="2621208"/>
            <a:ext cx="1417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FFFFFF"/>
                </a:solidFill>
              </a:defRPr>
            </a:pPr>
            <a:r>
              <a:rPr sz="1400" dirty="0"/>
              <a:t>Sem 1-4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" y="2895528"/>
            <a:ext cx="1417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FFFFFF"/>
                </a:solidFill>
              </a:defRPr>
            </a:pPr>
            <a:r>
              <a:rPr sz="1400"/>
              <a:t>28 HH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" y="3188136"/>
            <a:ext cx="1417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FFFFFF"/>
                </a:solidFill>
              </a:defRPr>
            </a:pPr>
            <a:r>
              <a:rPr sz="1400"/>
              <a:t>$574K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" y="3508176"/>
            <a:ext cx="14173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 i="0">
                <a:solidFill>
                  <a:srgbClr val="FFFFFF"/>
                </a:solidFill>
              </a:defRPr>
            </a:pPr>
            <a:r>
              <a:rPr sz="1200" dirty="0"/>
              <a:t>Acta, </a:t>
            </a:r>
            <a:r>
              <a:rPr sz="1200" dirty="0" err="1"/>
              <a:t>reqs</a:t>
            </a:r>
            <a:r>
              <a:rPr sz="1200" dirty="0"/>
              <a:t>,</a:t>
            </a:r>
            <a:br>
              <a:rPr sz="1200" dirty="0"/>
            </a:br>
            <a:r>
              <a:rPr sz="1200" dirty="0" err="1"/>
              <a:t>organización</a:t>
            </a:r>
            <a:endParaRPr sz="1200" dirty="0"/>
          </a:p>
        </p:txBody>
      </p:sp>
      <p:sp>
        <p:nvSpPr>
          <p:cNvPr id="12" name="Rectangle 11"/>
          <p:cNvSpPr/>
          <p:nvPr/>
        </p:nvSpPr>
        <p:spPr>
          <a:xfrm>
            <a:off x="2011680" y="1463040"/>
            <a:ext cx="1554480" cy="3291840"/>
          </a:xfrm>
          <a:prstGeom prst="rect">
            <a:avLst/>
          </a:prstGeom>
          <a:solidFill>
            <a:srgbClr val="3498DB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13" name="TextBox 12"/>
          <p:cNvSpPr txBox="1"/>
          <p:nvPr/>
        </p:nvSpPr>
        <p:spPr>
          <a:xfrm>
            <a:off x="2084832" y="1572768"/>
            <a:ext cx="14173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</a:defRPr>
            </a:pPr>
            <a:r>
              <a:rPr sz="1600"/>
              <a:t>FASE 2</a:t>
            </a:r>
            <a:br>
              <a:rPr sz="1600"/>
            </a:br>
            <a:r>
              <a:rPr sz="1600"/>
              <a:t>Análisis y Diseño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93976" y="2572583"/>
            <a:ext cx="1417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FFFFFF"/>
                </a:solidFill>
              </a:defRPr>
            </a:pPr>
            <a:r>
              <a:rPr sz="1400"/>
              <a:t>Sem 5-8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93976" y="2846903"/>
            <a:ext cx="1417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FFFFFF"/>
                </a:solidFill>
              </a:defRPr>
            </a:pPr>
            <a:r>
              <a:rPr sz="1400"/>
              <a:t>65 HH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093976" y="3139511"/>
            <a:ext cx="1417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FFFFFF"/>
                </a:solidFill>
              </a:defRPr>
            </a:pPr>
            <a:r>
              <a:rPr sz="1400"/>
              <a:t>$826K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80260" y="3703869"/>
            <a:ext cx="14173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 i="0">
                <a:solidFill>
                  <a:srgbClr val="FFFFFF"/>
                </a:solidFill>
              </a:defRPr>
            </a:pPr>
            <a:r>
              <a:rPr sz="1200" dirty="0"/>
              <a:t>Casos, </a:t>
            </a:r>
            <a:r>
              <a:rPr sz="1200" dirty="0" err="1"/>
              <a:t>arquitectura</a:t>
            </a:r>
            <a:r>
              <a:rPr sz="1200" dirty="0"/>
              <a:t>,</a:t>
            </a:r>
            <a:br>
              <a:rPr sz="1200" dirty="0"/>
            </a:br>
            <a:r>
              <a:rPr sz="1200" dirty="0"/>
              <a:t>mockups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0" y="1463040"/>
            <a:ext cx="1554480" cy="3291840"/>
          </a:xfrm>
          <a:prstGeom prst="rect">
            <a:avLst/>
          </a:prstGeom>
          <a:solidFill>
            <a:srgbClr val="1ABC9C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19" name="TextBox 18"/>
          <p:cNvSpPr txBox="1"/>
          <p:nvPr/>
        </p:nvSpPr>
        <p:spPr>
          <a:xfrm>
            <a:off x="3730752" y="1572768"/>
            <a:ext cx="14173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</a:defRPr>
            </a:pPr>
            <a:r>
              <a:rPr sz="1600"/>
              <a:t>FASE 3</a:t>
            </a:r>
            <a:br>
              <a:rPr sz="1600"/>
            </a:br>
            <a:r>
              <a:rPr sz="1600"/>
              <a:t>Desarrollo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730752" y="2465246"/>
            <a:ext cx="1417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FFFFFF"/>
                </a:solidFill>
              </a:defRPr>
            </a:pPr>
            <a:r>
              <a:rPr sz="1400" dirty="0"/>
              <a:t>Sem 9-14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730752" y="2739566"/>
            <a:ext cx="141732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FFFFFF"/>
                </a:solidFill>
              </a:defRPr>
            </a:pPr>
            <a:r>
              <a:rPr sz="1400" dirty="0"/>
              <a:t>185 HH</a:t>
            </a:r>
            <a:br>
              <a:rPr sz="1400" dirty="0"/>
            </a:br>
            <a:r>
              <a:rPr sz="1400" dirty="0"/>
              <a:t>(54,6%)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730752" y="3303113"/>
            <a:ext cx="1417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FFFFFF"/>
                </a:solidFill>
              </a:defRPr>
            </a:pPr>
            <a:r>
              <a:rPr sz="1400" dirty="0"/>
              <a:t>$2.054K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730752" y="3699307"/>
            <a:ext cx="14173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 i="0">
                <a:solidFill>
                  <a:srgbClr val="FFFFFF"/>
                </a:solidFill>
              </a:defRPr>
            </a:pPr>
            <a:r>
              <a:rPr sz="1200" dirty="0" err="1"/>
              <a:t>Implementación</a:t>
            </a:r>
            <a:br>
              <a:rPr sz="1200" dirty="0"/>
            </a:br>
            <a:r>
              <a:rPr sz="1200" dirty="0"/>
              <a:t>12 </a:t>
            </a:r>
            <a:r>
              <a:rPr sz="1200" dirty="0" err="1"/>
              <a:t>casos</a:t>
            </a:r>
            <a:r>
              <a:rPr sz="1200" dirty="0"/>
              <a:t> de </a:t>
            </a:r>
            <a:r>
              <a:rPr sz="1200" dirty="0" err="1"/>
              <a:t>uso</a:t>
            </a:r>
            <a:endParaRPr sz="1200" dirty="0"/>
          </a:p>
        </p:txBody>
      </p:sp>
      <p:sp>
        <p:nvSpPr>
          <p:cNvPr id="24" name="Rectangle 23"/>
          <p:cNvSpPr/>
          <p:nvPr/>
        </p:nvSpPr>
        <p:spPr>
          <a:xfrm>
            <a:off x="5303520" y="1463040"/>
            <a:ext cx="1554480" cy="3291840"/>
          </a:xfrm>
          <a:prstGeom prst="rect">
            <a:avLst/>
          </a:prstGeom>
          <a:solidFill>
            <a:srgbClr val="FF645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25" name="TextBox 24"/>
          <p:cNvSpPr txBox="1"/>
          <p:nvPr/>
        </p:nvSpPr>
        <p:spPr>
          <a:xfrm>
            <a:off x="5376672" y="1572768"/>
            <a:ext cx="141732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</a:defRPr>
            </a:pPr>
            <a:r>
              <a:rPr sz="1600"/>
              <a:t>FASE 4</a:t>
            </a:r>
            <a:br>
              <a:rPr sz="1600"/>
            </a:br>
            <a:r>
              <a:rPr sz="1600"/>
              <a:t>Pruebas y QA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72100" y="2477968"/>
            <a:ext cx="1417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FFFFFF"/>
                </a:solidFill>
              </a:defRPr>
            </a:pPr>
            <a:r>
              <a:rPr sz="1400"/>
              <a:t>Sem 15-16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72100" y="2752288"/>
            <a:ext cx="1417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FFFFFF"/>
                </a:solidFill>
              </a:defRPr>
            </a:pPr>
            <a:r>
              <a:rPr sz="1400"/>
              <a:t>36 HH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72100" y="3044896"/>
            <a:ext cx="1417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FFFFFF"/>
                </a:solidFill>
              </a:defRPr>
            </a:pPr>
            <a:r>
              <a:rPr sz="1400"/>
              <a:t>$364K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76672" y="3708502"/>
            <a:ext cx="14173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 i="0">
                <a:solidFill>
                  <a:srgbClr val="FFFFFF"/>
                </a:solidFill>
              </a:defRPr>
            </a:pPr>
            <a:r>
              <a:rPr sz="1200"/>
              <a:t>Pruebas</a:t>
            </a:r>
            <a:br>
              <a:rPr sz="1200"/>
            </a:br>
            <a:r>
              <a:rPr sz="1200"/>
              <a:t>funcionales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949440" y="1463040"/>
            <a:ext cx="1554480" cy="3291840"/>
          </a:xfrm>
          <a:prstGeom prst="rect">
            <a:avLst/>
          </a:prstGeom>
          <a:solidFill>
            <a:srgbClr val="E74C3C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4000"/>
          </a:p>
        </p:txBody>
      </p:sp>
      <p:sp>
        <p:nvSpPr>
          <p:cNvPr id="31" name="TextBox 30"/>
          <p:cNvSpPr txBox="1"/>
          <p:nvPr/>
        </p:nvSpPr>
        <p:spPr>
          <a:xfrm>
            <a:off x="7022592" y="1572768"/>
            <a:ext cx="14173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 i="0">
                <a:solidFill>
                  <a:srgbClr val="FFFFFF"/>
                </a:solidFill>
              </a:defRPr>
            </a:pPr>
            <a:r>
              <a:rPr sz="1600"/>
              <a:t>FASE 5</a:t>
            </a:r>
            <a:br>
              <a:rPr sz="1600"/>
            </a:br>
            <a:r>
              <a:rPr sz="1600"/>
              <a:t>Implementación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18020" y="2477968"/>
            <a:ext cx="1417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0">
                <a:solidFill>
                  <a:srgbClr val="FFFFFF"/>
                </a:solidFill>
              </a:defRPr>
            </a:pPr>
            <a:r>
              <a:rPr sz="1400"/>
              <a:t>Sem 17-18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18020" y="2752288"/>
            <a:ext cx="1417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FFFFFF"/>
                </a:solidFill>
              </a:defRPr>
            </a:pPr>
            <a:r>
              <a:rPr sz="1400"/>
              <a:t>25 HH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018020" y="3044896"/>
            <a:ext cx="141732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1" i="0">
                <a:solidFill>
                  <a:srgbClr val="FFFFFF"/>
                </a:solidFill>
              </a:defRPr>
            </a:pPr>
            <a:r>
              <a:rPr sz="1400"/>
              <a:t>$489K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022592" y="3708502"/>
            <a:ext cx="141732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50" b="0" i="0">
                <a:solidFill>
                  <a:srgbClr val="FFFFFF"/>
                </a:solidFill>
              </a:defRPr>
            </a:pPr>
            <a:r>
              <a:rPr sz="1200"/>
              <a:t>Producción,</a:t>
            </a:r>
            <a:br>
              <a:rPr sz="1200"/>
            </a:br>
            <a:r>
              <a:rPr sz="1200"/>
              <a:t>capacitación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4983480"/>
            <a:ext cx="8229600" cy="1188720"/>
          </a:xfrm>
          <a:prstGeom prst="rect">
            <a:avLst/>
          </a:prstGeom>
          <a:solidFill>
            <a:srgbClr val="F5F6F8"/>
          </a:solidFill>
          <a:ln w="19050">
            <a:solidFill>
              <a:srgbClr val="1A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640080" y="5161849"/>
            <a:ext cx="78638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50" b="0" i="1">
                <a:solidFill>
                  <a:srgbClr val="465564"/>
                </a:solidFill>
              </a:defRPr>
            </a:pPr>
            <a:r>
              <a:rPr sz="1600" dirty="0"/>
              <a:t>Cada </a:t>
            </a:r>
            <a:r>
              <a:rPr sz="1600" dirty="0" err="1"/>
              <a:t>fase</a:t>
            </a:r>
            <a:r>
              <a:rPr sz="1600" dirty="0"/>
              <a:t> se </a:t>
            </a:r>
            <a:r>
              <a:rPr sz="1600" dirty="0" err="1"/>
              <a:t>valida</a:t>
            </a:r>
            <a:r>
              <a:rPr sz="1600" dirty="0"/>
              <a:t> con Fran antes de </a:t>
            </a:r>
            <a:r>
              <a:rPr sz="1600" dirty="0" err="1"/>
              <a:t>avanzar</a:t>
            </a:r>
            <a:r>
              <a:rPr sz="1600" dirty="0"/>
              <a:t> a la </a:t>
            </a:r>
            <a:r>
              <a:rPr sz="1600" dirty="0" err="1"/>
              <a:t>siguiente</a:t>
            </a:r>
            <a:r>
              <a:rPr sz="1600" dirty="0"/>
              <a:t>, </a:t>
            </a:r>
            <a:r>
              <a:rPr sz="1600" dirty="0" err="1"/>
              <a:t>reduciendo</a:t>
            </a:r>
            <a:r>
              <a:rPr sz="1600" dirty="0"/>
              <a:t> el </a:t>
            </a:r>
            <a:r>
              <a:rPr sz="1600" dirty="0" err="1"/>
              <a:t>riesgo</a:t>
            </a:r>
            <a:r>
              <a:rPr sz="1600" dirty="0"/>
              <a:t> de </a:t>
            </a:r>
            <a:r>
              <a:rPr sz="1600" dirty="0" err="1"/>
              <a:t>construir</a:t>
            </a:r>
            <a:r>
              <a:rPr sz="1600" dirty="0"/>
              <a:t> algo </a:t>
            </a:r>
            <a:r>
              <a:rPr sz="1600" dirty="0" err="1"/>
              <a:t>que</a:t>
            </a:r>
            <a:r>
              <a:rPr sz="1600" dirty="0"/>
              <a:t> no se </a:t>
            </a:r>
            <a:r>
              <a:rPr sz="1600" dirty="0" err="1"/>
              <a:t>ajuste</a:t>
            </a:r>
            <a:r>
              <a:rPr sz="1600" dirty="0"/>
              <a:t> a </a:t>
            </a:r>
            <a:r>
              <a:rPr sz="1600" dirty="0" err="1"/>
              <a:t>su</a:t>
            </a:r>
            <a:r>
              <a:rPr sz="1600" dirty="0"/>
              <a:t> forma de </a:t>
            </a:r>
            <a:r>
              <a:rPr sz="1600" dirty="0" err="1"/>
              <a:t>trabajar</a:t>
            </a:r>
            <a:r>
              <a:rPr sz="1600" dirty="0"/>
              <a:t>. El </a:t>
            </a:r>
            <a:r>
              <a:rPr sz="1600" dirty="0" err="1"/>
              <a:t>esfuerzo</a:t>
            </a:r>
            <a:r>
              <a:rPr sz="1600" dirty="0"/>
              <a:t> se </a:t>
            </a:r>
            <a:r>
              <a:rPr sz="1600" dirty="0" err="1"/>
              <a:t>concentra</a:t>
            </a:r>
            <a:r>
              <a:rPr sz="1600" dirty="0"/>
              <a:t> </a:t>
            </a:r>
            <a:r>
              <a:rPr sz="1600" dirty="0" err="1"/>
              <a:t>en</a:t>
            </a:r>
            <a:r>
              <a:rPr sz="1600" dirty="0"/>
              <a:t> Desarrollo (54,6%), la </a:t>
            </a:r>
            <a:r>
              <a:rPr sz="1600" dirty="0" err="1"/>
              <a:t>etapa</a:t>
            </a:r>
            <a:r>
              <a:rPr sz="1600" dirty="0"/>
              <a:t> </a:t>
            </a:r>
            <a:r>
              <a:rPr sz="1600" dirty="0" err="1"/>
              <a:t>que</a:t>
            </a:r>
            <a:r>
              <a:rPr sz="1600" dirty="0"/>
              <a:t> </a:t>
            </a:r>
            <a:r>
              <a:rPr sz="1600" dirty="0" err="1"/>
              <a:t>entrega</a:t>
            </a:r>
            <a:r>
              <a:rPr sz="1600" dirty="0"/>
              <a:t> la </a:t>
            </a:r>
            <a:r>
              <a:rPr sz="1600" dirty="0" err="1"/>
              <a:t>solución</a:t>
            </a:r>
            <a:r>
              <a:rPr sz="1600" dirty="0"/>
              <a:t> </a:t>
            </a:r>
            <a:r>
              <a:rPr sz="1600" dirty="0" err="1"/>
              <a:t>funcionando</a:t>
            </a:r>
            <a:r>
              <a:rPr sz="1600" dirty="0"/>
              <a:t>.</a:t>
            </a:r>
          </a:p>
        </p:txBody>
      </p:sp>
      <p:pic>
        <p:nvPicPr>
          <p:cNvPr id="40" name="Imagen 39">
            <a:extLst>
              <a:ext uri="{FF2B5EF4-FFF2-40B4-BE49-F238E27FC236}">
                <a16:creationId xmlns:a16="http://schemas.microsoft.com/office/drawing/2014/main" id="{55F82F40-074E-9BC0-E4D7-40EE5814E2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391"/>
            <a:ext cx="9144000" cy="6831217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/>
          <p:cNvSpPr txBox="1"/>
          <p:nvPr/>
        </p:nvSpPr>
        <p:spPr>
          <a:xfrm>
            <a:off x="1371600" y="173736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465564"/>
                </a:solidFill>
              </a:defRPr>
            </a:pPr>
            <a:r>
              <a:t>Margen 60% (infraestructura, riesgo, gestión)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73736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 i="0">
                <a:solidFill>
                  <a:srgbClr val="FF6450"/>
                </a:solidFill>
              </a:defRPr>
            </a:pPr>
            <a:r>
              <a:t>$2.584.200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19456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 i="0">
                <a:solidFill>
                  <a:srgbClr val="465564"/>
                </a:solidFill>
              </a:defRPr>
            </a:pPr>
            <a:r>
              <a:t>Infraestructura (1er año: Netlify + Railway)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2194560"/>
            <a:ext cx="2743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 i="0">
                <a:solidFill>
                  <a:srgbClr val="FF6450"/>
                </a:solidFill>
              </a:defRPr>
            </a:pPr>
            <a:r>
              <a:t>$68.400</a:t>
            </a:r>
          </a:p>
        </p:txBody>
      </p:sp>
      <p:sp>
        <p:nvSpPr>
          <p:cNvPr id="11" name="Parallelogram 10"/>
          <p:cNvSpPr/>
          <p:nvPr/>
        </p:nvSpPr>
        <p:spPr>
          <a:xfrm>
            <a:off x="1371600" y="2606040"/>
            <a:ext cx="6400800" cy="0"/>
          </a:xfrm>
          <a:prstGeom prst="parallelogram">
            <a:avLst/>
          </a:prstGeom>
          <a:ln w="25400">
            <a:solidFill>
              <a:srgbClr val="1A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371600" y="2880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 i="0">
                <a:solidFill>
                  <a:srgbClr val="1E3C64"/>
                </a:solidFill>
              </a:defRPr>
            </a:pPr>
            <a:r>
              <a:t>PRECIO TOTAL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2880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 i="0">
                <a:solidFill>
                  <a:srgbClr val="1ABC9C"/>
                </a:solidFill>
              </a:defRPr>
            </a:pPr>
            <a:r>
              <a:t>$6.959.600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566160"/>
            <a:ext cx="8229600" cy="2651760"/>
          </a:xfrm>
          <a:prstGeom prst="rect">
            <a:avLst/>
          </a:prstGeom>
          <a:solidFill>
            <a:srgbClr val="1E3C64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31520" y="3749039"/>
            <a:ext cx="7680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 i="0">
                <a:solidFill>
                  <a:srgbClr val="1ABC9C"/>
                </a:solidFill>
              </a:defRPr>
            </a:pPr>
            <a:r>
              <a:rPr lang="es-CL" dirty="0"/>
              <a:t>¿POR QUÉ ESTE MONTO?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160520"/>
            <a:ext cx="76809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 sz="1000" b="0" i="0">
                <a:solidFill>
                  <a:srgbClr val="FFFFFF"/>
                </a:solidFill>
              </a:defRPr>
            </a:pPr>
            <a:r>
              <a:rPr sz="1200"/>
              <a:t>• El costo directo refleja las 339 horas reales de trabajo especializado en desarrollo web y base de datos.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782312"/>
            <a:ext cx="76809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 sz="1000" b="0" i="0">
                <a:solidFill>
                  <a:srgbClr val="FFFFFF"/>
                </a:solidFill>
              </a:defRPr>
            </a:pPr>
            <a:r>
              <a:rPr sz="1200" dirty="0"/>
              <a:t>• El </a:t>
            </a:r>
            <a:r>
              <a:rPr sz="1200" dirty="0" err="1"/>
              <a:t>margen</a:t>
            </a:r>
            <a:r>
              <a:rPr sz="1200" dirty="0"/>
              <a:t> </a:t>
            </a:r>
            <a:r>
              <a:rPr sz="1200" dirty="0" err="1"/>
              <a:t>cubre</a:t>
            </a:r>
            <a:r>
              <a:rPr sz="1200" dirty="0"/>
              <a:t> </a:t>
            </a:r>
            <a:r>
              <a:rPr lang="es-CL" sz="1200" dirty="0"/>
              <a:t>el fondo de emergencia</a:t>
            </a:r>
            <a:r>
              <a:rPr sz="1200" dirty="0"/>
              <a:t>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404103"/>
            <a:ext cx="76809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defRPr sz="1000" b="0" i="0">
                <a:solidFill>
                  <a:srgbClr val="FFFFFF"/>
                </a:solidFill>
              </a:defRPr>
            </a:pPr>
            <a:r>
              <a:rPr sz="1200"/>
              <a:t>• La infraestructura asegura que el sistema esté disponible desde el primer día, sin costos ocultos el primer año.</a:t>
            </a:r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47CA4C73-F59E-7F82-A40E-3C7FC05ED9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49" y="228600"/>
            <a:ext cx="9052780" cy="660271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3657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E3C64"/>
                </a:solidFill>
              </a:defRPr>
            </a:pPr>
            <a:r>
              <a:rPr lang="es-CL" dirty="0"/>
              <a:t>Stack</a:t>
            </a:r>
            <a:r>
              <a:rPr dirty="0"/>
              <a:t> Tecnológico: Moderno y </a:t>
            </a:r>
            <a:r>
              <a:rPr dirty="0" err="1"/>
              <a:t>Escalable</a:t>
            </a:r>
            <a:endParaRPr dirty="0"/>
          </a:p>
        </p:txBody>
      </p:sp>
      <p:sp>
        <p:nvSpPr>
          <p:cNvPr id="4" name="Parallelogram 3"/>
          <p:cNvSpPr/>
          <p:nvPr/>
        </p:nvSpPr>
        <p:spPr>
          <a:xfrm>
            <a:off x="457200" y="960120"/>
            <a:ext cx="8229600" cy="0"/>
          </a:xfrm>
          <a:prstGeom prst="parallelogram">
            <a:avLst/>
          </a:prstGeom>
          <a:ln w="25400">
            <a:solidFill>
              <a:srgbClr val="1A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612648" y="1691640"/>
            <a:ext cx="2423160" cy="1828800"/>
          </a:xfrm>
          <a:prstGeom prst="rect">
            <a:avLst/>
          </a:prstGeom>
          <a:solidFill>
            <a:srgbClr val="F5F6F8"/>
          </a:solidFill>
          <a:ln w="25400">
            <a:solidFill>
              <a:srgbClr val="1A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722376" y="1801368"/>
            <a:ext cx="21945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1ABC9C"/>
                </a:solidFill>
              </a:defRPr>
            </a:pPr>
            <a:r>
              <a:rPr sz="1200"/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22376" y="2148840"/>
            <a:ext cx="21945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465564"/>
                </a:solidFill>
              </a:defRPr>
            </a:pPr>
            <a:r>
              <a:rPr sz="1400"/>
              <a:t>HTML5 • CSS3 • JS</a:t>
            </a:r>
          </a:p>
        </p:txBody>
      </p:sp>
      <p:sp>
        <p:nvSpPr>
          <p:cNvPr id="8" name="Parallelogram 7"/>
          <p:cNvSpPr/>
          <p:nvPr/>
        </p:nvSpPr>
        <p:spPr>
          <a:xfrm>
            <a:off x="795528" y="2532888"/>
            <a:ext cx="2057400" cy="0"/>
          </a:xfrm>
          <a:prstGeom prst="parallelogram">
            <a:avLst/>
          </a:prstGeom>
          <a:ln w="9525">
            <a:solidFill>
              <a:srgbClr val="1A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9" name="TextBox 8"/>
          <p:cNvSpPr txBox="1"/>
          <p:nvPr/>
        </p:nvSpPr>
        <p:spPr>
          <a:xfrm>
            <a:off x="722376" y="2606040"/>
            <a:ext cx="21945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1">
                <a:solidFill>
                  <a:srgbClr val="465564"/>
                </a:solidFill>
              </a:defRPr>
            </a:pPr>
            <a:r>
              <a:rPr sz="1200"/>
              <a:t>Funciona en cualquier navegador, sin instalar nada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64408" y="1691640"/>
            <a:ext cx="2423160" cy="1828800"/>
          </a:xfrm>
          <a:prstGeom prst="rect">
            <a:avLst/>
          </a:prstGeom>
          <a:solidFill>
            <a:srgbClr val="F5F6F8"/>
          </a:solidFill>
          <a:ln w="25400">
            <a:solidFill>
              <a:srgbClr val="FF6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74136" y="1801368"/>
            <a:ext cx="21945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6450"/>
                </a:solidFill>
              </a:defRPr>
            </a:pPr>
            <a:r>
              <a:rPr sz="1200"/>
              <a:t>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74136" y="2148840"/>
            <a:ext cx="21945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465564"/>
                </a:solidFill>
              </a:defRPr>
            </a:pPr>
            <a:r>
              <a:rPr sz="1400"/>
              <a:t>Node.js • Express</a:t>
            </a:r>
          </a:p>
        </p:txBody>
      </p:sp>
      <p:sp>
        <p:nvSpPr>
          <p:cNvPr id="13" name="Parallelogram 12"/>
          <p:cNvSpPr/>
          <p:nvPr/>
        </p:nvSpPr>
        <p:spPr>
          <a:xfrm>
            <a:off x="3447288" y="2532888"/>
            <a:ext cx="2057400" cy="0"/>
          </a:xfrm>
          <a:prstGeom prst="parallelogram">
            <a:avLst/>
          </a:prstGeom>
          <a:ln w="9525">
            <a:solidFill>
              <a:srgbClr val="FF64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4" name="TextBox 13"/>
          <p:cNvSpPr txBox="1"/>
          <p:nvPr/>
        </p:nvSpPr>
        <p:spPr>
          <a:xfrm>
            <a:off x="3374136" y="2606040"/>
            <a:ext cx="21945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1">
                <a:solidFill>
                  <a:srgbClr val="465564"/>
                </a:solidFill>
              </a:defRPr>
            </a:pPr>
            <a:r>
              <a:rPr sz="1200"/>
              <a:t>Rápido de mantener y de ampliar a futuro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16168" y="1691640"/>
            <a:ext cx="2423160" cy="1828800"/>
          </a:xfrm>
          <a:prstGeom prst="rect">
            <a:avLst/>
          </a:prstGeom>
          <a:solidFill>
            <a:srgbClr val="F5F6F8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025896" y="1801368"/>
            <a:ext cx="21945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3498DB"/>
                </a:solidFill>
              </a:defRPr>
            </a:pPr>
            <a:r>
              <a:rPr sz="1200"/>
              <a:t>Base de Datos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25896" y="2148840"/>
            <a:ext cx="21945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465564"/>
                </a:solidFill>
              </a:defRPr>
            </a:pPr>
            <a:r>
              <a:rPr sz="1400"/>
              <a:t>PostgreSQL</a:t>
            </a:r>
          </a:p>
        </p:txBody>
      </p:sp>
      <p:sp>
        <p:nvSpPr>
          <p:cNvPr id="18" name="Parallelogram 17"/>
          <p:cNvSpPr/>
          <p:nvPr/>
        </p:nvSpPr>
        <p:spPr>
          <a:xfrm>
            <a:off x="6099048" y="2532888"/>
            <a:ext cx="2057400" cy="0"/>
          </a:xfrm>
          <a:prstGeom prst="parallelogram">
            <a:avLst/>
          </a:prstGeom>
          <a:ln w="9525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19" name="TextBox 18"/>
          <p:cNvSpPr txBox="1"/>
          <p:nvPr/>
        </p:nvSpPr>
        <p:spPr>
          <a:xfrm>
            <a:off x="6025896" y="2606040"/>
            <a:ext cx="219456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1">
                <a:solidFill>
                  <a:srgbClr val="465564"/>
                </a:solidFill>
              </a:defRPr>
            </a:pPr>
            <a:r>
              <a:rPr sz="1200" dirty="0"/>
              <a:t>Guarda </a:t>
            </a:r>
            <a:r>
              <a:rPr sz="1200" dirty="0" err="1"/>
              <a:t>todo</a:t>
            </a:r>
            <a:r>
              <a:rPr sz="1200" dirty="0"/>
              <a:t> de forma </a:t>
            </a:r>
            <a:r>
              <a:rPr sz="1200" dirty="0" err="1"/>
              <a:t>segura</a:t>
            </a:r>
            <a:r>
              <a:rPr sz="1200" dirty="0"/>
              <a:t>, sin </a:t>
            </a:r>
            <a:r>
              <a:rPr sz="1200" dirty="0" err="1"/>
              <a:t>pérdida</a:t>
            </a:r>
            <a:r>
              <a:rPr sz="1200" dirty="0"/>
              <a:t> de </a:t>
            </a:r>
            <a:r>
              <a:rPr sz="1200" dirty="0" err="1"/>
              <a:t>datos</a:t>
            </a:r>
            <a:r>
              <a:rPr lang="es-CL" sz="1200" dirty="0"/>
              <a:t>, y de bajo costo</a:t>
            </a:r>
            <a:endParaRPr sz="1200" dirty="0"/>
          </a:p>
        </p:txBody>
      </p:sp>
      <p:sp>
        <p:nvSpPr>
          <p:cNvPr id="20" name="Rectangle 19"/>
          <p:cNvSpPr/>
          <p:nvPr/>
        </p:nvSpPr>
        <p:spPr>
          <a:xfrm>
            <a:off x="612648" y="3703320"/>
            <a:ext cx="2423160" cy="1828800"/>
          </a:xfrm>
          <a:prstGeom prst="rect">
            <a:avLst/>
          </a:prstGeom>
          <a:solidFill>
            <a:srgbClr val="F5F6F8"/>
          </a:solidFill>
          <a:ln w="254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1" name="TextBox 20"/>
          <p:cNvSpPr txBox="1"/>
          <p:nvPr/>
        </p:nvSpPr>
        <p:spPr>
          <a:xfrm>
            <a:off x="722376" y="3813048"/>
            <a:ext cx="21945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E74C3C"/>
                </a:solidFill>
              </a:defRPr>
            </a:pPr>
            <a:r>
              <a:rPr sz="1200"/>
              <a:t>Seguridad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376" y="4160520"/>
            <a:ext cx="21945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465564"/>
                </a:solidFill>
              </a:defRPr>
            </a:pPr>
            <a:r>
              <a:rPr sz="1400"/>
              <a:t>JWT • bcrypt</a:t>
            </a:r>
          </a:p>
        </p:txBody>
      </p:sp>
      <p:sp>
        <p:nvSpPr>
          <p:cNvPr id="23" name="Parallelogram 22"/>
          <p:cNvSpPr/>
          <p:nvPr/>
        </p:nvSpPr>
        <p:spPr>
          <a:xfrm>
            <a:off x="795528" y="4544568"/>
            <a:ext cx="2057400" cy="0"/>
          </a:xfrm>
          <a:prstGeom prst="parallelogram">
            <a:avLst/>
          </a:prstGeom>
          <a:ln w="9525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4" name="TextBox 23"/>
          <p:cNvSpPr txBox="1"/>
          <p:nvPr/>
        </p:nvSpPr>
        <p:spPr>
          <a:xfrm>
            <a:off x="722376" y="4617720"/>
            <a:ext cx="21945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1">
                <a:solidFill>
                  <a:srgbClr val="465564"/>
                </a:solidFill>
              </a:defRPr>
            </a:pPr>
            <a:r>
              <a:rPr sz="1200"/>
              <a:t>Protege la información de Fran y sus alumnos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64408" y="3703320"/>
            <a:ext cx="2423160" cy="1828800"/>
          </a:xfrm>
          <a:prstGeom prst="rect">
            <a:avLst/>
          </a:prstGeom>
          <a:solidFill>
            <a:srgbClr val="F5F6F8"/>
          </a:solidFill>
          <a:ln w="2540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6" name="TextBox 25"/>
          <p:cNvSpPr txBox="1"/>
          <p:nvPr/>
        </p:nvSpPr>
        <p:spPr>
          <a:xfrm>
            <a:off x="3374136" y="3813048"/>
            <a:ext cx="21945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1C40F"/>
                </a:solidFill>
              </a:defRPr>
            </a:pPr>
            <a:r>
              <a:rPr sz="1200"/>
              <a:t>App Móvil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74136" y="4160520"/>
            <a:ext cx="21945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465564"/>
                </a:solidFill>
              </a:defRPr>
            </a:pPr>
            <a:r>
              <a:rPr sz="1400"/>
              <a:t>PWA</a:t>
            </a:r>
          </a:p>
        </p:txBody>
      </p:sp>
      <p:sp>
        <p:nvSpPr>
          <p:cNvPr id="28" name="Parallelogram 27"/>
          <p:cNvSpPr/>
          <p:nvPr/>
        </p:nvSpPr>
        <p:spPr>
          <a:xfrm>
            <a:off x="3447288" y="4544568"/>
            <a:ext cx="2057400" cy="0"/>
          </a:xfrm>
          <a:prstGeom prst="parallelogram">
            <a:avLst/>
          </a:prstGeom>
          <a:ln w="9525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29" name="TextBox 28"/>
          <p:cNvSpPr txBox="1"/>
          <p:nvPr/>
        </p:nvSpPr>
        <p:spPr>
          <a:xfrm>
            <a:off x="3374136" y="4617720"/>
            <a:ext cx="219456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1">
                <a:solidFill>
                  <a:srgbClr val="465564"/>
                </a:solidFill>
              </a:defRPr>
            </a:pPr>
            <a:r>
              <a:rPr sz="1200"/>
              <a:t>Se usa como app sin pasar por tiendas de aplicaciones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916168" y="3703320"/>
            <a:ext cx="2423160" cy="1828800"/>
          </a:xfrm>
          <a:prstGeom prst="rect">
            <a:avLst/>
          </a:prstGeom>
          <a:solidFill>
            <a:srgbClr val="F5F6F8"/>
          </a:solidFill>
          <a:ln w="25400">
            <a:solidFill>
              <a:srgbClr val="1E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31" name="TextBox 30"/>
          <p:cNvSpPr txBox="1"/>
          <p:nvPr/>
        </p:nvSpPr>
        <p:spPr>
          <a:xfrm>
            <a:off x="6025896" y="3813048"/>
            <a:ext cx="21945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1E3C64"/>
                </a:solidFill>
              </a:defRPr>
            </a:pPr>
            <a:r>
              <a:rPr sz="1200"/>
              <a:t>Hosting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025896" y="4160520"/>
            <a:ext cx="21945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 i="0">
                <a:solidFill>
                  <a:srgbClr val="465564"/>
                </a:solidFill>
              </a:defRPr>
            </a:pPr>
            <a:r>
              <a:rPr sz="1400"/>
              <a:t>Netlify • Railway</a:t>
            </a:r>
          </a:p>
        </p:txBody>
      </p:sp>
      <p:sp>
        <p:nvSpPr>
          <p:cNvPr id="33" name="Parallelogram 32"/>
          <p:cNvSpPr/>
          <p:nvPr/>
        </p:nvSpPr>
        <p:spPr>
          <a:xfrm>
            <a:off x="6099048" y="4544568"/>
            <a:ext cx="2057400" cy="0"/>
          </a:xfrm>
          <a:prstGeom prst="parallelogram">
            <a:avLst/>
          </a:prstGeom>
          <a:ln w="9525">
            <a:solidFill>
              <a:srgbClr val="1E3C6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3600"/>
          </a:p>
        </p:txBody>
      </p:sp>
      <p:sp>
        <p:nvSpPr>
          <p:cNvPr id="34" name="TextBox 33"/>
          <p:cNvSpPr txBox="1"/>
          <p:nvPr/>
        </p:nvSpPr>
        <p:spPr>
          <a:xfrm>
            <a:off x="6025896" y="4617720"/>
            <a:ext cx="219456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 i="1">
                <a:solidFill>
                  <a:srgbClr val="465564"/>
                </a:solidFill>
              </a:defRPr>
            </a:pPr>
            <a:r>
              <a:rPr sz="1200"/>
              <a:t>Bajo costo y siempre disponible</a:t>
            </a:r>
          </a:p>
        </p:txBody>
      </p:sp>
      <p:pic>
        <p:nvPicPr>
          <p:cNvPr id="36" name="Imagen 35">
            <a:extLst>
              <a:ext uri="{FF2B5EF4-FFF2-40B4-BE49-F238E27FC236}">
                <a16:creationId xmlns:a16="http://schemas.microsoft.com/office/drawing/2014/main" id="{E422BD52-8EF1-9AAD-6621-20091A3082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04370"/>
            <a:ext cx="9144000" cy="644407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57200" y="365760"/>
            <a:ext cx="82296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1E3C64"/>
                </a:solidFill>
              </a:defRPr>
            </a:pPr>
            <a:r>
              <a:rPr dirty="0"/>
              <a:t>En </a:t>
            </a:r>
            <a:r>
              <a:rPr dirty="0" err="1"/>
              <a:t>Resumen</a:t>
            </a:r>
            <a:r>
              <a:rPr lang="es-CL" dirty="0"/>
              <a:t>;</a:t>
            </a:r>
            <a:endParaRPr dirty="0"/>
          </a:p>
        </p:txBody>
      </p:sp>
      <p:sp>
        <p:nvSpPr>
          <p:cNvPr id="4" name="Parallelogram 3"/>
          <p:cNvSpPr/>
          <p:nvPr/>
        </p:nvSpPr>
        <p:spPr>
          <a:xfrm>
            <a:off x="457200" y="960120"/>
            <a:ext cx="8229600" cy="0"/>
          </a:xfrm>
          <a:prstGeom prst="parallelogram">
            <a:avLst/>
          </a:prstGeom>
          <a:ln w="25400">
            <a:solidFill>
              <a:srgbClr val="1A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 i="0">
                <a:solidFill>
                  <a:srgbClr val="1E3C64"/>
                </a:solidFill>
              </a:defRPr>
            </a:pPr>
            <a:r>
              <a:t>Powerbuilding.gym deja de administrarse a mano y pasa a gestionarse desde un solo lugar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920240"/>
            <a:ext cx="2377440" cy="411480"/>
          </a:xfrm>
          <a:prstGeom prst="rect">
            <a:avLst/>
          </a:prstGeom>
          <a:solidFill>
            <a:srgbClr val="1ABC9C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7" name="TextBox 6"/>
          <p:cNvSpPr txBox="1"/>
          <p:nvPr/>
        </p:nvSpPr>
        <p:spPr>
          <a:xfrm>
            <a:off x="640080" y="1993392"/>
            <a:ext cx="21945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</a:defRPr>
            </a:pPr>
            <a:r>
              <a:rPr sz="1600"/>
              <a:t>Más Tiempo Libre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23160"/>
            <a:ext cx="219456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465564"/>
                </a:solidFill>
              </a:defRPr>
            </a:pPr>
            <a:r>
              <a:rPr sz="1100"/>
              <a:t>Cerca de 15 horas al mes que hoy se van en reservas, reportes y mensajes, quedan disponibles para atender el gimnasio.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221251"/>
            <a:ext cx="219456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1">
                <a:solidFill>
                  <a:srgbClr val="FF6450"/>
                </a:solidFill>
              </a:defRPr>
            </a:pPr>
            <a:r>
              <a:rPr sz="1050"/>
              <a:t>Por qué: el sistema hace solo lo que hoy Fran hace a mano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0" y="1920240"/>
            <a:ext cx="2377440" cy="411480"/>
          </a:xfrm>
          <a:prstGeom prst="rect">
            <a:avLst/>
          </a:prstGeom>
          <a:solidFill>
            <a:srgbClr val="1ABC9C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1" name="TextBox 10"/>
          <p:cNvSpPr txBox="1"/>
          <p:nvPr/>
        </p:nvSpPr>
        <p:spPr>
          <a:xfrm>
            <a:off x="3291840" y="1993392"/>
            <a:ext cx="219456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</a:defRPr>
            </a:pPr>
            <a:r>
              <a:rPr sz="1600"/>
              <a:t>Información al Instante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2423160"/>
            <a:ext cx="219456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465564"/>
                </a:solidFill>
              </a:defRPr>
            </a:pPr>
            <a:r>
              <a:rPr sz="1100" dirty="0" err="1"/>
              <a:t>Sabrás</a:t>
            </a:r>
            <a:r>
              <a:rPr sz="1100" dirty="0"/>
              <a:t> </a:t>
            </a:r>
            <a:r>
              <a:rPr sz="1100" dirty="0" err="1"/>
              <a:t>en</a:t>
            </a:r>
            <a:r>
              <a:rPr sz="1100" dirty="0"/>
              <a:t> </a:t>
            </a:r>
            <a:r>
              <a:rPr sz="1100" dirty="0" err="1"/>
              <a:t>todo</a:t>
            </a:r>
            <a:r>
              <a:rPr sz="1100" dirty="0"/>
              <a:t> </a:t>
            </a:r>
            <a:r>
              <a:rPr sz="1100" dirty="0" err="1"/>
              <a:t>momento</a:t>
            </a:r>
            <a:r>
              <a:rPr sz="1100" dirty="0"/>
              <a:t> </a:t>
            </a:r>
            <a:r>
              <a:rPr sz="1100" dirty="0" err="1"/>
              <a:t>cuántos</a:t>
            </a:r>
            <a:r>
              <a:rPr sz="1100" dirty="0"/>
              <a:t> </a:t>
            </a:r>
            <a:r>
              <a:rPr sz="1100" dirty="0" err="1"/>
              <a:t>cupos</a:t>
            </a:r>
            <a:r>
              <a:rPr sz="1100" dirty="0"/>
              <a:t> </a:t>
            </a:r>
            <a:r>
              <a:rPr sz="1100" dirty="0" err="1"/>
              <a:t>tienes</a:t>
            </a:r>
            <a:r>
              <a:rPr sz="1100" dirty="0"/>
              <a:t>, </a:t>
            </a:r>
            <a:r>
              <a:rPr sz="1100" dirty="0" err="1"/>
              <a:t>quién</a:t>
            </a:r>
            <a:r>
              <a:rPr sz="1100" dirty="0"/>
              <a:t> </a:t>
            </a:r>
            <a:r>
              <a:rPr sz="1100" dirty="0" err="1"/>
              <a:t>asistió</a:t>
            </a:r>
            <a:r>
              <a:rPr sz="1100" dirty="0"/>
              <a:t> y </a:t>
            </a:r>
            <a:r>
              <a:rPr sz="1100" dirty="0" err="1"/>
              <a:t>cómo</a:t>
            </a:r>
            <a:r>
              <a:rPr sz="1100" dirty="0"/>
              <a:t> </a:t>
            </a:r>
            <a:r>
              <a:rPr sz="1100" dirty="0" err="1"/>
              <a:t>va</a:t>
            </a:r>
            <a:r>
              <a:rPr sz="1100" dirty="0"/>
              <a:t> el </a:t>
            </a:r>
            <a:r>
              <a:rPr sz="1100" dirty="0" err="1"/>
              <a:t>negocio</a:t>
            </a:r>
            <a:r>
              <a:rPr sz="1100" dirty="0"/>
              <a:t>, sin </a:t>
            </a:r>
            <a:r>
              <a:rPr sz="1100" dirty="0" err="1"/>
              <a:t>juntar</a:t>
            </a:r>
            <a:r>
              <a:rPr sz="1100" dirty="0"/>
              <a:t> </a:t>
            </a:r>
            <a:r>
              <a:rPr sz="1100" dirty="0" err="1"/>
              <a:t>planillas</a:t>
            </a:r>
            <a:r>
              <a:rPr sz="1100" dirty="0"/>
              <a:t>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3221251"/>
            <a:ext cx="219456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1">
                <a:solidFill>
                  <a:srgbClr val="FF6450"/>
                </a:solidFill>
              </a:defRPr>
            </a:pPr>
            <a:r>
              <a:rPr sz="1050"/>
              <a:t>Por qué: los datos se guardan en un solo lugar, al momento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52160" y="1920240"/>
            <a:ext cx="2377440" cy="411480"/>
          </a:xfrm>
          <a:prstGeom prst="rect">
            <a:avLst/>
          </a:prstGeom>
          <a:solidFill>
            <a:srgbClr val="1ABC9C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sz="2800"/>
          </a:p>
        </p:txBody>
      </p:sp>
      <p:sp>
        <p:nvSpPr>
          <p:cNvPr id="15" name="TextBox 14"/>
          <p:cNvSpPr txBox="1"/>
          <p:nvPr/>
        </p:nvSpPr>
        <p:spPr>
          <a:xfrm>
            <a:off x="5943600" y="1993392"/>
            <a:ext cx="21945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 i="0">
                <a:solidFill>
                  <a:srgbClr val="FFFFFF"/>
                </a:solidFill>
              </a:defRPr>
            </a:pPr>
            <a:r>
              <a:rPr sz="1400" dirty="0"/>
              <a:t>Menos Dolores de Cabeza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0" y="2423160"/>
            <a:ext cx="2194560" cy="6001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 i="0">
                <a:solidFill>
                  <a:srgbClr val="465564"/>
                </a:solidFill>
              </a:defRPr>
            </a:pPr>
            <a:r>
              <a:rPr sz="1100"/>
              <a:t>Se acaban los choques de horario, los papeles perdidos y el ir detrás de cada alumno para avisarle algo.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3221251"/>
            <a:ext cx="2194560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 i="1">
                <a:solidFill>
                  <a:srgbClr val="FF6450"/>
                </a:solidFill>
              </a:defRPr>
            </a:pPr>
            <a:r>
              <a:rPr sz="1050" dirty="0"/>
              <a:t>Por </a:t>
            </a:r>
            <a:r>
              <a:rPr sz="1050" dirty="0" err="1"/>
              <a:t>qué</a:t>
            </a:r>
            <a:r>
              <a:rPr sz="1050" dirty="0"/>
              <a:t>: el </a:t>
            </a:r>
            <a:r>
              <a:rPr sz="1050" dirty="0" err="1"/>
              <a:t>sistema</a:t>
            </a:r>
            <a:r>
              <a:rPr sz="1050" dirty="0"/>
              <a:t> </a:t>
            </a:r>
            <a:r>
              <a:rPr sz="1050" dirty="0" err="1"/>
              <a:t>controla</a:t>
            </a:r>
            <a:r>
              <a:rPr sz="1050" dirty="0"/>
              <a:t> y </a:t>
            </a:r>
            <a:r>
              <a:rPr sz="1050" dirty="0" err="1"/>
              <a:t>avisa</a:t>
            </a:r>
            <a:r>
              <a:rPr sz="1050" dirty="0"/>
              <a:t> </a:t>
            </a:r>
            <a:r>
              <a:rPr sz="1050" dirty="0" err="1"/>
              <a:t>automáticamente</a:t>
            </a:r>
            <a:endParaRPr sz="1050" dirty="0"/>
          </a:p>
        </p:txBody>
      </p:sp>
      <p:sp>
        <p:nvSpPr>
          <p:cNvPr id="18" name="Rectangle 17"/>
          <p:cNvSpPr/>
          <p:nvPr/>
        </p:nvSpPr>
        <p:spPr>
          <a:xfrm>
            <a:off x="822960" y="3977640"/>
            <a:ext cx="7315200" cy="1554480"/>
          </a:xfrm>
          <a:prstGeom prst="rect">
            <a:avLst/>
          </a:prstGeom>
          <a:solidFill>
            <a:srgbClr val="1ABC9C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005840" y="4206240"/>
            <a:ext cx="6949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 i="0">
                <a:solidFill>
                  <a:srgbClr val="FFFFFF"/>
                </a:solidFill>
              </a:defRPr>
            </a:pPr>
            <a:r>
              <a:t>EL SIGUIENTE PASO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05840" y="4663440"/>
            <a:ext cx="6949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 i="0">
                <a:solidFill>
                  <a:srgbClr val="FFFFFF"/>
                </a:solidFill>
              </a:defRPr>
            </a:pPr>
            <a:r>
              <a:t>Con la idea del proyecto ya definida junto a Fran, avanzamos a diseñar en detalle cómo se verá y funcionará el sistema.</a:t>
            </a:r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051B9C09-D35A-C439-BC08-A6EF56DD9E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495300"/>
            <a:ext cx="9144000" cy="6096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64</TotalTime>
  <Words>1097</Words>
  <Application>Microsoft Office PowerPoint</Application>
  <PresentationFormat>Presentación en pantalla (4:3)</PresentationFormat>
  <Paragraphs>175</Paragraphs>
  <Slides>13</Slides>
  <Notes>1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13</vt:i4>
      </vt:variant>
    </vt:vector>
  </HeadingPairs>
  <TitlesOfParts>
    <vt:vector size="17" baseType="lpstr">
      <vt:lpstr>Aptos</vt:lpstr>
      <vt:lpstr>Arial</vt:lpstr>
      <vt:lpstr>Calibri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Victor Mejias</dc:creator>
  <cp:keywords/>
  <dc:description>generated using python-pptx</dc:description>
  <cp:lastModifiedBy>BENJAMIN . SALAZAR LARRAGUIBEL</cp:lastModifiedBy>
  <cp:revision>3</cp:revision>
  <dcterms:created xsi:type="dcterms:W3CDTF">2013-01-27T09:14:16Z</dcterms:created>
  <dcterms:modified xsi:type="dcterms:W3CDTF">2026-09-22T17:26:23Z</dcterms:modified>
  <cp:category/>
</cp:coreProperties>
</file>