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9jx7bXlacb7hjp0RuzkxCtmrw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133CB-8E98-4246-B0E3-4E5E052DAD6B}">
  <a:tblStyle styleId="{936133CB-8E98-4246-B0E3-4E5E052DAD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19750A4-44F3-4970-90F8-7B2F8B572055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5B9BD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5B9BD5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la Fase 2: qué es el negocio, qué se desarrolló, diagramas y estado de avance.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h8f9525a193b118c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h8f9525a193b118c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8f9525a193b118c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8f9525a193b118c_2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h8f9525a193b118c_2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8f9525a193b118c_2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8f9525a193b118c_2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h8f9525a193b118c_2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8f9525a193b118c_2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8f9525a193b118c_0_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8f9525a193b118c_0_1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8f9525a193b118c_0_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8f9525a193b118c_0_1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8f9525a193b118c_0_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8f9525a193b118c_0_4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8f9525a193b118c_0_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8f9525a193b118c_0_2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8f9525a193b118c_0_10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8f9525a193b118c_0_10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8f9525a193b118c_0_1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h8f9525a193b118c_0_11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Reemplazar cada recuadro punteado por la imagen del diagrama correspondiente.</a:t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8f9525a193b118c_0_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h8f9525a193b118c_0_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Reemplazar cada recuadro punteado por la imagen del diagrama correspondiente.</a:t>
            </a:r>
            <a:endParaRPr/>
          </a:p>
        </p:txBody>
      </p:sp>
      <p:sp>
        <p:nvSpPr>
          <p:cNvPr id="203" name="Google Shape;203;h8f9525a193b118c_0_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8f9525a193b118c_0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h8f9525a193b118c_0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Reemplazar cada recuadro punteado por la imagen del diagrama correspondiente.</a:t>
            </a:r>
            <a:endParaRPr/>
          </a:p>
        </p:txBody>
      </p:sp>
      <p:sp>
        <p:nvSpPr>
          <p:cNvPr id="213" name="Google Shape;213;h8f9525a193b118c_0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8f9525a193b118c_0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h8f9525a193b118c_0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8f9525a193b118c_0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14203D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5"/>
          <p:cNvSpPr txBox="1"/>
          <p:nvPr>
            <p:ph type="title"/>
          </p:nvPr>
        </p:nvSpPr>
        <p:spPr>
          <a:xfrm>
            <a:off x="812800" y="1099821"/>
            <a:ext cx="1056640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200"/>
              <a:buFont typeface="Arial"/>
              <a:buNone/>
              <a:defRPr sz="32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15"/>
          <p:cNvSpPr txBox="1"/>
          <p:nvPr>
            <p:ph idx="1" type="body"/>
          </p:nvPr>
        </p:nvSpPr>
        <p:spPr>
          <a:xfrm>
            <a:off x="812800" y="1851661"/>
            <a:ext cx="10566400" cy="4193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5F2EC"/>
              </a:buClr>
              <a:buSzPts val="1600"/>
              <a:buNone/>
              <a:defRPr sz="1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12800" y="1099821"/>
            <a:ext cx="1056640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12800" y="1851661"/>
            <a:ext cx="10566400" cy="4193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5F2E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7874000" y="0"/>
            <a:ext cx="5715000" cy="5715000"/>
          </a:xfrm>
          <a:prstGeom prst="roundRect">
            <a:avLst>
              <a:gd fmla="val 28444" name="adj"/>
            </a:avLst>
          </a:prstGeom>
          <a:solidFill>
            <a:srgbClr val="1D2D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906000" y="762000"/>
            <a:ext cx="1270000" cy="1270000"/>
          </a:xfrm>
          <a:prstGeom prst="roundRect">
            <a:avLst>
              <a:gd fmla="val 500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0" y="5588000"/>
            <a:ext cx="4064000" cy="127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12000" y="4953000"/>
            <a:ext cx="228600" cy="1397000"/>
          </a:xfrm>
          <a:prstGeom prst="roundRect">
            <a:avLst>
              <a:gd fmla="val 22222" name="adj"/>
            </a:avLst>
          </a:prstGeom>
          <a:solidFill>
            <a:srgbClr val="F5F2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429500" y="5143500"/>
            <a:ext cx="190500" cy="1016000"/>
          </a:xfrm>
          <a:prstGeom prst="roundRect">
            <a:avLst>
              <a:gd fmla="val 26667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160000" y="5143500"/>
            <a:ext cx="190500" cy="1016000"/>
          </a:xfrm>
          <a:prstGeom prst="roundRect">
            <a:avLst>
              <a:gd fmla="val 26667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39400" y="4953000"/>
            <a:ext cx="228600" cy="1397000"/>
          </a:xfrm>
          <a:prstGeom prst="roundRect">
            <a:avLst>
              <a:gd fmla="val 22222" name="adj"/>
            </a:avLst>
          </a:prstGeom>
          <a:solidFill>
            <a:srgbClr val="F5F2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233680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Fase 2 · Desarrollo del Proyecto APT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>
            <p:ph type="title"/>
          </p:nvPr>
        </p:nvSpPr>
        <p:spPr>
          <a:xfrm>
            <a:off x="812800" y="2763520"/>
            <a:ext cx="10883392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6400"/>
              <a:buFont typeface="Arial"/>
              <a:buNone/>
            </a:pPr>
            <a:r>
              <a:rPr b="1" i="0" lang="en-US" sz="6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Powerbuilding.gym</a:t>
            </a:r>
            <a:endParaRPr sz="6400"/>
          </a:p>
        </p:txBody>
      </p:sp>
      <p:sp>
        <p:nvSpPr>
          <p:cNvPr id="26" name="Google Shape;26;p1"/>
          <p:cNvSpPr/>
          <p:nvPr/>
        </p:nvSpPr>
        <p:spPr>
          <a:xfrm>
            <a:off x="812800" y="3794760"/>
            <a:ext cx="10883392" cy="75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2E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C9D2E8"/>
                </a:solidFill>
                <a:latin typeface="Arial"/>
                <a:ea typeface="Arial"/>
                <a:cs typeface="Arial"/>
                <a:sym typeface="Arial"/>
              </a:rPr>
              <a:t>Sistema integral de gestión para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2E8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C9D2E8"/>
                </a:solidFill>
                <a:latin typeface="Arial"/>
                <a:ea typeface="Arial"/>
                <a:cs typeface="Arial"/>
                <a:sym typeface="Arial"/>
              </a:rPr>
              <a:t>gimnasio de powerlifting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12800" y="5887720"/>
            <a:ext cx="588645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D9BB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D9BBD"/>
                </a:solidFill>
                <a:latin typeface="Arial"/>
                <a:ea typeface="Arial"/>
                <a:cs typeface="Arial"/>
                <a:sym typeface="Arial"/>
              </a:rPr>
              <a:t>Benjamín Salazar · Victor Mejías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D9BB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8D9BBD"/>
                </a:solidFill>
                <a:latin typeface="Arial"/>
                <a:ea typeface="Arial"/>
                <a:cs typeface="Arial"/>
                <a:sym typeface="Arial"/>
              </a:rPr>
              <a:t>DuocUC · Capstone PTY4614 · Octubre 2026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Introducción al negocio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>
            <p:ph type="title"/>
          </p:nvPr>
        </p:nvSpPr>
        <p:spPr>
          <a:xfrm>
            <a:off x="812800" y="111252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Powerbuilding.gym</a:t>
            </a:r>
            <a:endParaRPr sz="3600"/>
          </a:p>
        </p:txBody>
      </p:sp>
      <p:sp>
        <p:nvSpPr>
          <p:cNvPr id="35" name="Google Shape;35;p2"/>
          <p:cNvSpPr/>
          <p:nvPr/>
        </p:nvSpPr>
        <p:spPr>
          <a:xfrm>
            <a:off x="812800" y="1920241"/>
            <a:ext cx="5181600" cy="3335020"/>
          </a:xfrm>
          <a:prstGeom prst="roundRect">
            <a:avLst>
              <a:gd fmla="val 4570" name="adj"/>
            </a:avLst>
          </a:prstGeom>
          <a:solidFill>
            <a:srgbClr val="1420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17600" y="2225041"/>
            <a:ext cx="47091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Qué es el negocio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17600" y="2656841"/>
            <a:ext cx="4709160" cy="102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Homegym de powerlifting en Santiago (Camilo Henríquez 3314), dirigido por su dueña y coach, Fran Rodríguez Santibáñez. Funciona por bloques horarios con cupo limitado.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17600" y="3779520"/>
            <a:ext cx="470916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B4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8DB4FF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14882" y="4150361"/>
            <a:ext cx="460425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6718" lvl="0" marL="15671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Reservas por WhatsApp, planillas y cuadernos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Dobles reservas y sobrecupo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Sin historial de asistencia ni métricas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7600" y="1920241"/>
            <a:ext cx="5181600" cy="3335020"/>
          </a:xfrm>
          <a:prstGeom prst="roundRect">
            <a:avLst>
              <a:gd fmla="val 45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02400" y="2225041"/>
            <a:ext cx="470916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Qué se está desarrollando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99682" y="2656841"/>
            <a:ext cx="4604258" cy="173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2236"/>
                </a:solidFill>
              </a:rPr>
              <a:t>Web y PWA que cumple con:</a:t>
            </a:r>
            <a:endParaRPr>
              <a:solidFill>
                <a:srgbClr val="1B2236"/>
              </a:solidFill>
            </a:endParaRPr>
          </a:p>
          <a:p>
            <a:pPr indent="-156718" lvl="0" marL="1567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B2236"/>
                </a:solidFill>
                <a:latin typeface="Arial"/>
                <a:ea typeface="Arial"/>
                <a:cs typeface="Arial"/>
                <a:sym typeface="Arial"/>
              </a:rPr>
              <a:t>Reserva y cancelación online con control de cupos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B2236"/>
                </a:solidFill>
                <a:latin typeface="Arial"/>
                <a:ea typeface="Arial"/>
                <a:cs typeface="Arial"/>
                <a:sym typeface="Arial"/>
              </a:rPr>
              <a:t>Gestión de bloques, clientes y fichas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B2236"/>
                </a:solidFill>
                <a:latin typeface="Arial"/>
                <a:ea typeface="Arial"/>
                <a:cs typeface="Arial"/>
                <a:sym typeface="Arial"/>
              </a:rPr>
              <a:t>Registro de asistencia por bloque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B2236"/>
                </a:solidFill>
                <a:latin typeface="Arial"/>
                <a:ea typeface="Arial"/>
                <a:cs typeface="Arial"/>
                <a:sym typeface="Arial"/>
              </a:rPr>
              <a:t>Dashboard de ocupación, asistencia y clientes en riesgo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6718" lvl="0" marL="156718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6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B2236"/>
                </a:solidFill>
                <a:latin typeface="Arial"/>
                <a:ea typeface="Arial"/>
                <a:cs typeface="Arial"/>
                <a:sym typeface="Arial"/>
              </a:rPr>
              <a:t>Sistema web en producción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8f9525a193b118c_2_0"/>
          <p:cNvSpPr/>
          <p:nvPr/>
        </p:nvSpPr>
        <p:spPr>
          <a:xfrm>
            <a:off x="812800" y="812800"/>
            <a:ext cx="108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Introducción al negocio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h8f9525a193b118c_2_0"/>
          <p:cNvSpPr txBox="1"/>
          <p:nvPr>
            <p:ph type="title"/>
          </p:nvPr>
        </p:nvSpPr>
        <p:spPr>
          <a:xfrm>
            <a:off x="812800" y="111252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Alcance</a:t>
            </a:r>
            <a:endParaRPr sz="3600"/>
          </a:p>
        </p:txBody>
      </p:sp>
      <p:sp>
        <p:nvSpPr>
          <p:cNvPr id="50" name="Google Shape;50;h8f9525a193b118c_2_0"/>
          <p:cNvSpPr/>
          <p:nvPr/>
        </p:nvSpPr>
        <p:spPr>
          <a:xfrm>
            <a:off x="812800" y="1920241"/>
            <a:ext cx="5181600" cy="3335100"/>
          </a:xfrm>
          <a:prstGeom prst="roundRect">
            <a:avLst>
              <a:gd fmla="val 4570" name="adj"/>
            </a:avLst>
          </a:prstGeom>
          <a:solidFill>
            <a:srgbClr val="1420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8f9525a193b118c_2_0"/>
          <p:cNvSpPr/>
          <p:nvPr/>
        </p:nvSpPr>
        <p:spPr>
          <a:xfrm>
            <a:off x="1117600" y="2225041"/>
            <a:ext cx="470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Qué </a:t>
            </a:r>
            <a:r>
              <a:rPr b="1" lang="en-US" sz="2000">
                <a:solidFill>
                  <a:srgbClr val="FF8A3D"/>
                </a:solidFill>
              </a:rPr>
              <a:t>hará el sistema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8f9525a193b118c_2_0"/>
          <p:cNvSpPr/>
          <p:nvPr/>
        </p:nvSpPr>
        <p:spPr>
          <a:xfrm>
            <a:off x="1117600" y="2656841"/>
            <a:ext cx="47091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>
                <a:solidFill>
                  <a:srgbClr val="F5F2EC"/>
                </a:solidFill>
              </a:rPr>
              <a:t>Reservas con control de cupo, mantenedores de bloques, clientes, disciplinas, instructores, planes y pagos, y registro de asistencia.</a:t>
            </a:r>
            <a:endParaRPr>
              <a:solidFill>
                <a:srgbClr val="F5F2EC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>
                <a:solidFill>
                  <a:srgbClr val="F5F2EC"/>
                </a:solidFill>
              </a:rPr>
              <a:t>Pago en línea con Webpay Plus y comprobante PDF, portal Mi cuenta del alumno, reportes PDF/Excel y dashboard de negocio.</a:t>
            </a:r>
            <a:endParaRPr>
              <a:solidFill>
                <a:srgbClr val="F5F2EC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>
                <a:solidFill>
                  <a:srgbClr val="F5F2EC"/>
                </a:solidFill>
              </a:rPr>
              <a:t>Notificaciones automáticas por correo y aplicación móvil instalable (PWA) para el administrador.</a:t>
            </a:r>
            <a:endParaRPr>
              <a:solidFill>
                <a:srgbClr val="F5F2EC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F5F2EC"/>
              </a:solidFill>
            </a:endParaRPr>
          </a:p>
        </p:txBody>
      </p:sp>
      <p:sp>
        <p:nvSpPr>
          <p:cNvPr id="53" name="Google Shape;53;h8f9525a193b118c_2_0"/>
          <p:cNvSpPr/>
          <p:nvPr/>
        </p:nvSpPr>
        <p:spPr>
          <a:xfrm>
            <a:off x="6197600" y="1920241"/>
            <a:ext cx="5181600" cy="3335100"/>
          </a:xfrm>
          <a:prstGeom prst="roundRect">
            <a:avLst>
              <a:gd fmla="val 45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8f9525a193b118c_2_0"/>
          <p:cNvSpPr/>
          <p:nvPr/>
        </p:nvSpPr>
        <p:spPr>
          <a:xfrm>
            <a:off x="6502400" y="2225041"/>
            <a:ext cx="470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Qué </a:t>
            </a:r>
            <a:r>
              <a:rPr b="1" lang="en-US" sz="2000">
                <a:solidFill>
                  <a:srgbClr val="14203D"/>
                </a:solidFill>
              </a:rPr>
              <a:t>no hará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8f9525a193b118c_2_0"/>
          <p:cNvSpPr/>
          <p:nvPr/>
        </p:nvSpPr>
        <p:spPr>
          <a:xfrm>
            <a:off x="6599682" y="2656841"/>
            <a:ext cx="46044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2236"/>
                </a:solidFill>
              </a:rPr>
              <a:t>No reemplaza la administración contable/tributaria ni gestiona sueldos del personal.</a:t>
            </a:r>
            <a:endParaRPr>
              <a:solidFill>
                <a:srgbClr val="1B2236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2236"/>
                </a:solidFill>
              </a:rPr>
              <a:t>No se publica en tiendas de aplicaciones.</a:t>
            </a:r>
            <a:endParaRPr>
              <a:solidFill>
                <a:srgbClr val="1B223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8f9525a193b118c_2_14"/>
          <p:cNvSpPr txBox="1"/>
          <p:nvPr>
            <p:ph type="title"/>
          </p:nvPr>
        </p:nvSpPr>
        <p:spPr>
          <a:xfrm>
            <a:off x="812800" y="81280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Requisitos funcionales</a:t>
            </a:r>
            <a:endParaRPr sz="3600"/>
          </a:p>
        </p:txBody>
      </p:sp>
      <p:sp>
        <p:nvSpPr>
          <p:cNvPr id="62" name="Google Shape;62;h8f9525a193b118c_2_14"/>
          <p:cNvSpPr txBox="1"/>
          <p:nvPr/>
        </p:nvSpPr>
        <p:spPr>
          <a:xfrm>
            <a:off x="812801" y="1521785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 muestran los 5 con mayor relevancia según documento ERS:</a:t>
            </a:r>
            <a:endParaRPr/>
          </a:p>
        </p:txBody>
      </p:sp>
      <p:graphicFrame>
        <p:nvGraphicFramePr>
          <p:cNvPr id="63" name="Google Shape;63;h8f9525a193b118c_2_14"/>
          <p:cNvGraphicFramePr/>
          <p:nvPr/>
        </p:nvGraphicFramePr>
        <p:xfrm>
          <a:off x="1365825" y="228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{936133CB-8E98-4246-B0E3-4E5E052DAD6B}</a:tableStyleId>
              </a:tblPr>
              <a:tblGrid>
                <a:gridCol w="771525"/>
                <a:gridCol w="2762250"/>
                <a:gridCol w="5572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Código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Requerimiento Funcional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Justificación de Importancia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R.1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Autenticar usuario (JWT)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Base de la seguridad del sistema para identificar correctamente a los usuarios.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R.2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Gestionar roles de acceso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Garantiza el control de acceso y autorizaciones según el tipo de usuario.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R.4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Reservar bloque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Funcionalidad core del negocio para la gestión de agendas y citas.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R.11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Mantenedor de planes y membresías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Esencial para la definición de productos, modelos de cobro y suscripciones.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R.12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Mantenedor de pagos y cuotas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Crítico para la sostenibilidad financiera y el registro transaccional.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8f9525a193b118c_2_36"/>
          <p:cNvSpPr txBox="1"/>
          <p:nvPr>
            <p:ph type="title"/>
          </p:nvPr>
        </p:nvSpPr>
        <p:spPr>
          <a:xfrm>
            <a:off x="812800" y="81280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Requisitos no funcionales</a:t>
            </a:r>
            <a:endParaRPr sz="3600"/>
          </a:p>
        </p:txBody>
      </p:sp>
      <p:sp>
        <p:nvSpPr>
          <p:cNvPr id="70" name="Google Shape;70;h8f9525a193b118c_2_36"/>
          <p:cNvSpPr txBox="1"/>
          <p:nvPr/>
        </p:nvSpPr>
        <p:spPr>
          <a:xfrm>
            <a:off x="812801" y="1521785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 muestran los 5 con mayor relevancia según documento ERS:</a:t>
            </a:r>
            <a:endParaRPr/>
          </a:p>
        </p:txBody>
      </p:sp>
      <p:graphicFrame>
        <p:nvGraphicFramePr>
          <p:cNvPr id="71" name="Google Shape;71;h8f9525a193b118c_2_36"/>
          <p:cNvGraphicFramePr/>
          <p:nvPr/>
        </p:nvGraphicFramePr>
        <p:xfrm>
          <a:off x="1365825" y="228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{936133CB-8E98-4246-B0E3-4E5E052DAD6B}</a:tableStyleId>
              </a:tblPr>
              <a:tblGrid>
                <a:gridCol w="771525"/>
                <a:gridCol w="2762250"/>
                <a:gridCol w="55721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Código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Requerimiento No Funcional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Justificación de Importancia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R.24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Cifrar contraseñas (bcrypt)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Vital para asegurar y resguardar las credenciales sensibles de los usuarios.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R.25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Sesión con token JWT con expiración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Mantiene la seguridad en las peticiones API y evita sesiones abiertas indefinidamente.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R.27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Disponibilidad en la nube (Netlify y Railway)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Garantiza el acceso continuo e infraestructura accesible para el sistema.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R.28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Tiempo de respuesta menor a 2-3 s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Asegura un rendimiento óptimo y una buena experiencia de usuario.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R.30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Protección de datos personales (Ley 19.628)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Indispensable para el cumplimiento legal y la privacidad de los usuarios.</a:t>
                      </a:r>
                      <a:endParaRPr/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Planificación</a:t>
            </a:r>
            <a:endParaRPr sz="3600"/>
          </a:p>
        </p:txBody>
      </p:sp>
      <p:sp>
        <p:nvSpPr>
          <p:cNvPr id="78" name="Google Shape;78;p4"/>
          <p:cNvSpPr/>
          <p:nvPr/>
        </p:nvSpPr>
        <p:spPr>
          <a:xfrm>
            <a:off x="8229600" y="2369820"/>
            <a:ext cx="298246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Reserva y cancelación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229600" y="2717800"/>
            <a:ext cx="2982468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D6679"/>
                </a:solidFill>
                <a:latin typeface="Arial"/>
                <a:ea typeface="Arial"/>
                <a:cs typeface="Arial"/>
                <a:sym typeface="Arial"/>
              </a:rPr>
              <a:t>El alumno reserva con control de cupo del bloque.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975600" y="3595370"/>
            <a:ext cx="3403600" cy="1797050"/>
          </a:xfrm>
          <a:prstGeom prst="roundRect">
            <a:avLst>
              <a:gd fmla="val 84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0" y="3849370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29600" y="4344670"/>
            <a:ext cx="298246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Dashboard y negocio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229600" y="4692650"/>
            <a:ext cx="2982468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D6679"/>
                </a:solidFill>
                <a:latin typeface="Arial"/>
                <a:ea typeface="Arial"/>
                <a:cs typeface="Arial"/>
                <a:sym typeface="Arial"/>
              </a:rPr>
              <a:t>KPIs, ocupación, ranking y clientes en riesgo.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812801" y="1521785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Hitos significativos del proyecto (Carta Gantt) y estado real</a:t>
            </a:r>
            <a:endParaRPr/>
          </a:p>
        </p:txBody>
      </p:sp>
      <p:graphicFrame>
        <p:nvGraphicFramePr>
          <p:cNvPr id="85" name="Google Shape;85;p4"/>
          <p:cNvGraphicFramePr/>
          <p:nvPr/>
        </p:nvGraphicFramePr>
        <p:xfrm>
          <a:off x="812805" y="20102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{619750A4-44F3-4970-90F8-7B2F8B572055}</a:tableStyleId>
              </a:tblPr>
              <a:tblGrid>
                <a:gridCol w="5120650"/>
                <a:gridCol w="2651750"/>
                <a:gridCol w="3200400"/>
              </a:tblGrid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Fase / hito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Fechas planificadas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Estado al 27/10/2026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82848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Planificación (Acta, requerimientos, equipo)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08/09 – 28/09/2026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Completada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Análisis y diseño (casos de uso, mockups, ERS)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06/10 – 02/11/2026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Completada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Fase 1 entregada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Semana 4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Entregada, nota 5,9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Desarrollo (12 casos de uso, mantenedores, PWA)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03/11 – 14/12/2026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Adelantado: ejecutado 25 – 27/10/2026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Fase 2: presentación y documentación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27/10/2026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En esta entrega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Pruebas y QA (funcionales y con usuarios)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15/12 – 28/12/2026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Parcial: verificaciones locales; Fase 3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Implementación y cierre (producción, manuales, capacitación)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29/12/2026 – 11/01/2027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Producción operativa; cierre en Fase 3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Fase 3: entrega final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08/01 – 11/01/2027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22222"/>
                          </a:solidFill>
                        </a:rPr>
                        <a:t>Pendiente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812800" y="81280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i="0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Arquitectura y tecnología</a:t>
            </a:r>
            <a:endParaRPr sz="3600"/>
          </a:p>
        </p:txBody>
      </p:sp>
      <p:sp>
        <p:nvSpPr>
          <p:cNvPr id="92" name="Google Shape;92;p5"/>
          <p:cNvSpPr/>
          <p:nvPr/>
        </p:nvSpPr>
        <p:spPr>
          <a:xfrm>
            <a:off x="812800" y="2644139"/>
            <a:ext cx="3014100" cy="1645800"/>
          </a:xfrm>
          <a:prstGeom prst="roundRect">
            <a:avLst>
              <a:gd fmla="val 9259" name="adj"/>
            </a:avLst>
          </a:prstGeom>
          <a:solidFill>
            <a:srgbClr val="1D2D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66800" y="2898139"/>
            <a:ext cx="25812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66800" y="3248661"/>
            <a:ext cx="25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Netlify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066800" y="3573782"/>
            <a:ext cx="2581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E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9D2E8"/>
                </a:solidFill>
                <a:latin typeface="Arial"/>
                <a:ea typeface="Arial"/>
                <a:cs typeface="Arial"/>
                <a:sym typeface="Arial"/>
              </a:rPr>
              <a:t>HTML, CSS y JavaScript. Gráficos con Chart.js.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979307" y="3147061"/>
            <a:ext cx="548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88907" y="2644139"/>
            <a:ext cx="3014100" cy="1645800"/>
          </a:xfrm>
          <a:prstGeom prst="roundRect">
            <a:avLst>
              <a:gd fmla="val 9259" name="adj"/>
            </a:avLst>
          </a:prstGeom>
          <a:solidFill>
            <a:srgbClr val="1D2D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42907" y="2898139"/>
            <a:ext cx="25815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842907" y="3248661"/>
            <a:ext cx="258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Railway · Node.js + Express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842907" y="3573782"/>
            <a:ext cx="25815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E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9D2E8"/>
                </a:solidFill>
                <a:latin typeface="Arial"/>
                <a:ea typeface="Arial"/>
                <a:cs typeface="Arial"/>
                <a:sym typeface="Arial"/>
              </a:rPr>
              <a:t>Capas: rutas, controladores y servicios.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755493" y="3147061"/>
            <a:ext cx="548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365093" y="2644139"/>
            <a:ext cx="3014100" cy="1645800"/>
          </a:xfrm>
          <a:prstGeom prst="roundRect">
            <a:avLst>
              <a:gd fmla="val 9259" name="adj"/>
            </a:avLst>
          </a:prstGeom>
          <a:solidFill>
            <a:srgbClr val="1D2D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619093" y="2898139"/>
            <a:ext cx="25812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619093" y="3248661"/>
            <a:ext cx="25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619093" y="3573782"/>
            <a:ext cx="2581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E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9D2E8"/>
                </a:solidFill>
                <a:latin typeface="Arial"/>
                <a:ea typeface="Arial"/>
                <a:cs typeface="Arial"/>
                <a:sym typeface="Arial"/>
              </a:rPr>
              <a:t>usuarios, clientes, bloques, reservas y asistencias.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12800" y="5618482"/>
            <a:ext cx="731100" cy="426600"/>
          </a:xfrm>
          <a:prstGeom prst="roundRect">
            <a:avLst>
              <a:gd fmla="val 50000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670764" y="5618482"/>
            <a:ext cx="1906800" cy="426600"/>
          </a:xfrm>
          <a:prstGeom prst="roundRect">
            <a:avLst>
              <a:gd fmla="val 50000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bcrypt (12 rondas)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704590" y="5618482"/>
            <a:ext cx="1982700" cy="426600"/>
          </a:xfrm>
          <a:prstGeom prst="roundRect">
            <a:avLst>
              <a:gd fmla="val 50000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SQL parametrizado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814219" y="5618482"/>
            <a:ext cx="1975800" cy="426600"/>
          </a:xfrm>
          <a:prstGeom prst="roundRect">
            <a:avLst>
              <a:gd fmla="val 50000" name="adj"/>
            </a:avLst>
          </a:prstGeom>
          <a:solidFill>
            <a:srgbClr val="8DB4F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4203D"/>
                </a:solidFill>
                <a:latin typeface="Arial"/>
                <a:ea typeface="Arial"/>
                <a:cs typeface="Arial"/>
                <a:sym typeface="Arial"/>
              </a:rPr>
              <a:t>Rol validado en BD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1205883" y="2267701"/>
            <a:ext cx="3807326" cy="1114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actividades 1/3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1134763" y="3403631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Proceso: reserva de un bloque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16" name="Google Shape;11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550" y="341205"/>
            <a:ext cx="6410625" cy="61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1205872" y="20072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de procesos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8f9525a193b118c_0_11"/>
          <p:cNvSpPr/>
          <p:nvPr/>
        </p:nvSpPr>
        <p:spPr>
          <a:xfrm>
            <a:off x="1205883" y="2267701"/>
            <a:ext cx="3807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actividades 2/3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8f9525a193b118c_0_11"/>
          <p:cNvSpPr txBox="1"/>
          <p:nvPr/>
        </p:nvSpPr>
        <p:spPr>
          <a:xfrm>
            <a:off x="1134763" y="3403631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accent1"/>
                </a:solidFill>
              </a:rPr>
              <a:t>Proceso: pago en línea de un plan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24" name="Google Shape;124;h8f9525a193b118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375" y="81901"/>
            <a:ext cx="4913925" cy="669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h8f9525a193b118c_0_11"/>
          <p:cNvSpPr/>
          <p:nvPr/>
        </p:nvSpPr>
        <p:spPr>
          <a:xfrm>
            <a:off x="1205872" y="20072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de procesos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8f9525a193b118c_0_17"/>
          <p:cNvSpPr/>
          <p:nvPr/>
        </p:nvSpPr>
        <p:spPr>
          <a:xfrm>
            <a:off x="1205883" y="2267701"/>
            <a:ext cx="3807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actividades 3/3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8f9525a193b118c_0_17"/>
          <p:cNvSpPr txBox="1"/>
          <p:nvPr/>
        </p:nvSpPr>
        <p:spPr>
          <a:xfrm>
            <a:off x="1134763" y="3403631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Proceso: registro de asistencia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32" name="Google Shape;132;h8f9525a193b118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700" y="337553"/>
            <a:ext cx="6095999" cy="61829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h8f9525a193b118c_0_17"/>
          <p:cNvSpPr/>
          <p:nvPr/>
        </p:nvSpPr>
        <p:spPr>
          <a:xfrm>
            <a:off x="1205872" y="20072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de procesos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3309002" y="453074"/>
            <a:ext cx="69324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3600">
                <a:solidFill>
                  <a:srgbClr val="F5F2EC"/>
                </a:solidFill>
              </a:rPr>
              <a:t>componentes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4864173" y="1015498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Netlify, Railway y PostgreSQL</a:t>
            </a:r>
            <a:endParaRPr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613" y="1427825"/>
            <a:ext cx="4676775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804377" y="265200"/>
            <a:ext cx="273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de desarrollo o despliegue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8f9525a193b118c_0_44"/>
          <p:cNvSpPr/>
          <p:nvPr/>
        </p:nvSpPr>
        <p:spPr>
          <a:xfrm>
            <a:off x="3485875" y="625725"/>
            <a:ext cx="55929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3600">
                <a:solidFill>
                  <a:srgbClr val="F5F2EC"/>
                </a:solidFill>
              </a:rPr>
              <a:t>despliegue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8f9525a193b118c_0_44"/>
          <p:cNvSpPr txBox="1"/>
          <p:nvPr/>
        </p:nvSpPr>
        <p:spPr>
          <a:xfrm>
            <a:off x="4976549" y="1399650"/>
            <a:ext cx="223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Netlify, Railway y PostgreSQL</a:t>
            </a:r>
            <a:endParaRPr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h8f9525a193b118c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825" y="2250038"/>
            <a:ext cx="8114349" cy="33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h8f9525a193b118c_0_44"/>
          <p:cNvSpPr/>
          <p:nvPr/>
        </p:nvSpPr>
        <p:spPr>
          <a:xfrm>
            <a:off x="5714427" y="424650"/>
            <a:ext cx="273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física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515003" y="2884275"/>
            <a:ext cx="6932277" cy="690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Casos de uso UML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515003" y="3229365"/>
            <a:ext cx="254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Administrador y alumno</a:t>
            </a:r>
            <a:endParaRPr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_casos_uso.pn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2504" y="280702"/>
            <a:ext cx="5401623" cy="629659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/>
          <p:nvPr/>
        </p:nvSpPr>
        <p:spPr>
          <a:xfrm>
            <a:off x="590847" y="2444500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de escenarios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2660424" y="564820"/>
            <a:ext cx="7355838" cy="1077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Modelo entidad-relación (MER)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4378962" y="1095934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accent1"/>
                </a:solidFill>
              </a:rPr>
              <a:t>15 </a:t>
            </a:r>
            <a:r>
              <a:rPr lang="en-US" sz="1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tablas con integridad referencial</a:t>
            </a:r>
            <a:endParaRPr sz="1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_modelo_relacional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4151" y="1560675"/>
            <a:ext cx="7424349" cy="486967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5249397" y="271850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lógica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8f9525a193b118c_0_27"/>
          <p:cNvSpPr/>
          <p:nvPr/>
        </p:nvSpPr>
        <p:spPr>
          <a:xfrm>
            <a:off x="6288650" y="2178175"/>
            <a:ext cx="5217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2EC"/>
                </a:solidFill>
              </a:rPr>
              <a:t>Diagrama de clases 1/3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8f9525a193b118c_0_27"/>
          <p:cNvSpPr txBox="1"/>
          <p:nvPr/>
        </p:nvSpPr>
        <p:spPr>
          <a:xfrm>
            <a:off x="6288662" y="2865422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Cuenta del alumno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72" name="Google Shape;172;h8f9525a193b118c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25" y="1690150"/>
            <a:ext cx="5590075" cy="37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h8f9525a193b118c_0_27"/>
          <p:cNvSpPr/>
          <p:nvPr/>
        </p:nvSpPr>
        <p:spPr>
          <a:xfrm>
            <a:off x="6288647" y="18386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lógica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8f9525a193b118c_0_103"/>
          <p:cNvSpPr/>
          <p:nvPr/>
        </p:nvSpPr>
        <p:spPr>
          <a:xfrm>
            <a:off x="6399074" y="2363220"/>
            <a:ext cx="735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2EC"/>
                </a:solidFill>
              </a:rPr>
              <a:t>Diagrama de clases 2/3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8f9525a193b118c_0_103"/>
          <p:cNvSpPr txBox="1"/>
          <p:nvPr/>
        </p:nvSpPr>
        <p:spPr>
          <a:xfrm>
            <a:off x="6399087" y="3045922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Pagos y notificaciones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80" name="Google Shape;180;h8f9525a193b118c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00" y="1601976"/>
            <a:ext cx="6223724" cy="34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h8f9525a193b118c_0_103"/>
          <p:cNvSpPr/>
          <p:nvPr/>
        </p:nvSpPr>
        <p:spPr>
          <a:xfrm>
            <a:off x="6399072" y="21244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lógica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8f9525a193b118c_0_113"/>
          <p:cNvSpPr/>
          <p:nvPr/>
        </p:nvSpPr>
        <p:spPr>
          <a:xfrm>
            <a:off x="5918274" y="2221345"/>
            <a:ext cx="7355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5F2EC"/>
                </a:solidFill>
              </a:rPr>
              <a:t>Diagrama de clases 3/3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8f9525a193b118c_0_113"/>
          <p:cNvSpPr txBox="1"/>
          <p:nvPr/>
        </p:nvSpPr>
        <p:spPr>
          <a:xfrm>
            <a:off x="5863062" y="2817947"/>
            <a:ext cx="609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Gestión del gimnasio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188" name="Google Shape;188;h8f9525a193b118c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2097100"/>
            <a:ext cx="5480300" cy="21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h8f9525a193b118c_0_113"/>
          <p:cNvSpPr/>
          <p:nvPr/>
        </p:nvSpPr>
        <p:spPr>
          <a:xfrm>
            <a:off x="5963622" y="1982550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Vista lógica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3744009" y="375924"/>
            <a:ext cx="4704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ct val="100000"/>
              <a:buFont typeface="Arial"/>
              <a:buNone/>
            </a:pPr>
            <a:r>
              <a:rPr b="1" i="0" lang="en-US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secuencia 1/3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812800" y="5331461"/>
            <a:ext cx="3505708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12800" y="5692139"/>
            <a:ext cx="350570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178472" y="954025"/>
            <a:ext cx="1693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>
                <a:solidFill>
                  <a:schemeClr val="accent1"/>
                </a:solidFill>
              </a:rPr>
              <a:t>Inicio de sesión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925" y="1511954"/>
            <a:ext cx="8704300" cy="45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8f9525a193b118c_0_77"/>
          <p:cNvSpPr txBox="1"/>
          <p:nvPr>
            <p:ph type="title"/>
          </p:nvPr>
        </p:nvSpPr>
        <p:spPr>
          <a:xfrm>
            <a:off x="3744021" y="444174"/>
            <a:ext cx="4704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ct val="100000"/>
              <a:buFont typeface="Arial"/>
              <a:buNone/>
            </a:pPr>
            <a:r>
              <a:rPr b="1" i="0" lang="en-US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secuencia 2/3</a:t>
            </a:r>
            <a:endParaRPr/>
          </a:p>
        </p:txBody>
      </p:sp>
      <p:sp>
        <p:nvSpPr>
          <p:cNvPr id="206" name="Google Shape;206;h8f9525a193b118c_0_77"/>
          <p:cNvSpPr/>
          <p:nvPr/>
        </p:nvSpPr>
        <p:spPr>
          <a:xfrm>
            <a:off x="812800" y="5331461"/>
            <a:ext cx="35058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8f9525a193b118c_0_77"/>
          <p:cNvSpPr/>
          <p:nvPr/>
        </p:nvSpPr>
        <p:spPr>
          <a:xfrm>
            <a:off x="812800" y="5692139"/>
            <a:ext cx="3505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8f9525a193b118c_0_77"/>
          <p:cNvSpPr/>
          <p:nvPr/>
        </p:nvSpPr>
        <p:spPr>
          <a:xfrm>
            <a:off x="5265312" y="1166938"/>
            <a:ext cx="166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Reserva de un bloque</a:t>
            </a:r>
            <a:endParaRPr b="1" sz="1200">
              <a:solidFill>
                <a:schemeClr val="accent1"/>
              </a:solidFill>
            </a:endParaRPr>
          </a:p>
        </p:txBody>
      </p:sp>
      <p:pic>
        <p:nvPicPr>
          <p:cNvPr id="209" name="Google Shape;209;h8f9525a193b118c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563" y="1701600"/>
            <a:ext cx="10726875" cy="39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8f9525a193b118c_0_90"/>
          <p:cNvSpPr txBox="1"/>
          <p:nvPr>
            <p:ph type="title"/>
          </p:nvPr>
        </p:nvSpPr>
        <p:spPr>
          <a:xfrm>
            <a:off x="3744009" y="484424"/>
            <a:ext cx="4704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ct val="100000"/>
              <a:buFont typeface="Arial"/>
              <a:buNone/>
            </a:pPr>
            <a:r>
              <a:rPr b="1" i="0" lang="en-US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Diagrama de secuencia 3/3</a:t>
            </a:r>
            <a:endParaRPr/>
          </a:p>
        </p:txBody>
      </p:sp>
      <p:sp>
        <p:nvSpPr>
          <p:cNvPr id="216" name="Google Shape;216;h8f9525a193b118c_0_90"/>
          <p:cNvSpPr/>
          <p:nvPr/>
        </p:nvSpPr>
        <p:spPr>
          <a:xfrm>
            <a:off x="812800" y="5331461"/>
            <a:ext cx="35058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8f9525a193b118c_0_90"/>
          <p:cNvSpPr/>
          <p:nvPr/>
        </p:nvSpPr>
        <p:spPr>
          <a:xfrm>
            <a:off x="812800" y="5692139"/>
            <a:ext cx="3505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8f9525a193b118c_0_90"/>
          <p:cNvSpPr/>
          <p:nvPr/>
        </p:nvSpPr>
        <p:spPr>
          <a:xfrm>
            <a:off x="4952404" y="1249176"/>
            <a:ext cx="22872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accent1"/>
                </a:solidFill>
              </a:rPr>
              <a:t>Pago en línea con Webpay Plus</a:t>
            </a:r>
            <a:endParaRPr sz="12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accent1"/>
              </a:solidFill>
            </a:endParaRPr>
          </a:p>
        </p:txBody>
      </p:sp>
      <p:pic>
        <p:nvPicPr>
          <p:cNvPr id="219" name="Google Shape;219;h8f9525a193b118c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225" y="1825825"/>
            <a:ext cx="9639926" cy="45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>
            <p:ph type="title"/>
          </p:nvPr>
        </p:nvSpPr>
        <p:spPr>
          <a:xfrm>
            <a:off x="2998800" y="1081125"/>
            <a:ext cx="61944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Costos estimados del proyecto</a:t>
            </a:r>
            <a:endParaRPr sz="3600"/>
          </a:p>
        </p:txBody>
      </p:sp>
      <p:graphicFrame>
        <p:nvGraphicFramePr>
          <p:cNvPr id="226" name="Google Shape;226;p12"/>
          <p:cNvGraphicFramePr/>
          <p:nvPr/>
        </p:nvGraphicFramePr>
        <p:xfrm>
          <a:off x="1844038" y="19823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{619750A4-44F3-4970-90F8-7B2F8B572055}</a:tableStyleId>
              </a:tblPr>
              <a:tblGrid>
                <a:gridCol w="5760725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82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</a:rPr>
                        <a:t>Costo (CLP)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8284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Fase de Planificación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$574.000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Fase de Análisis y Diseño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$826.000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Fase de Desarrollo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$2.054.000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Fase de Pruebas y QA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$364.000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Fase de Implementación y Cierre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$489.000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Total horas-hombre (339 HH)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$4.307.000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Margen 60% (utilidad)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$2.584.200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Precio desarrollo (HH + margen)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$6.891.200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Infraestructura 1er año (Netlify + Railway)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$68.400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4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PRECIO TOTAL DEL PROYECTO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</a:rPr>
                        <a:t>$6.959.600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3D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7874000" y="0"/>
            <a:ext cx="5715000" cy="5715000"/>
          </a:xfrm>
          <a:prstGeom prst="roundRect">
            <a:avLst>
              <a:gd fmla="val 28444" name="adj"/>
            </a:avLst>
          </a:prstGeom>
          <a:solidFill>
            <a:srgbClr val="1D2D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9906000" y="762000"/>
            <a:ext cx="1270000" cy="1270000"/>
          </a:xfrm>
          <a:prstGeom prst="roundRect">
            <a:avLst>
              <a:gd fmla="val 50000" name="adj"/>
            </a:avLst>
          </a:prstGeom>
          <a:solidFill>
            <a:srgbClr val="FF8A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>
            <p:ph type="title"/>
          </p:nvPr>
        </p:nvSpPr>
        <p:spPr>
          <a:xfrm>
            <a:off x="812800" y="1860550"/>
            <a:ext cx="10883392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4800"/>
              <a:buFont typeface="Arial"/>
              <a:buNone/>
            </a:pPr>
            <a:r>
              <a:rPr b="1" i="0" lang="en-US" sz="48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4800"/>
          </a:p>
        </p:txBody>
      </p:sp>
      <p:sp>
        <p:nvSpPr>
          <p:cNvPr id="235" name="Google Shape;235;p13"/>
          <p:cNvSpPr/>
          <p:nvPr/>
        </p:nvSpPr>
        <p:spPr>
          <a:xfrm>
            <a:off x="812800" y="2759750"/>
            <a:ext cx="71856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Un sistema real, en producción, con arquitectura en capas</a:t>
            </a:r>
            <a:r>
              <a:rPr lang="en-US" sz="1900">
                <a:solidFill>
                  <a:srgbClr val="F5F2EC"/>
                </a:solidFill>
              </a:rPr>
              <a:t>, desarrollado con seguridad, mantenedores, reportes, correos y PWA, mostrando un avance significativo </a:t>
            </a:r>
            <a:r>
              <a:rPr lang="en-US" sz="1900">
                <a:solidFill>
                  <a:srgbClr val="F5F2EC"/>
                </a:solidFill>
              </a:rPr>
              <a:t>adelantándose</a:t>
            </a:r>
            <a:r>
              <a:rPr lang="en-US" sz="1900">
                <a:solidFill>
                  <a:srgbClr val="F5F2EC"/>
                </a:solidFill>
              </a:rPr>
              <a:t> al cronograma y asegurando la calidad.</a:t>
            </a:r>
            <a:endParaRPr sz="1900">
              <a:solidFill>
                <a:srgbClr val="F5F2EC"/>
              </a:solidFill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rgbClr val="F5F2EC"/>
              </a:solidFill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12800" y="4748529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3D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rPr>
              <a:t>gympowerbulding.netlify.app · github.com/zalak3t/Powerbuilding.gym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8f9525a193b118c_0_61"/>
          <p:cNvSpPr txBox="1"/>
          <p:nvPr>
            <p:ph type="title"/>
          </p:nvPr>
        </p:nvSpPr>
        <p:spPr>
          <a:xfrm>
            <a:off x="654300" y="1121350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rPr b="1" lang="en-US" sz="3600">
                <a:solidFill>
                  <a:srgbClr val="14203D"/>
                </a:solidFill>
              </a:rPr>
              <a:t>Presentación del sistema desarrollado en vivo </a:t>
            </a:r>
            <a:endParaRPr b="1" sz="3600">
              <a:solidFill>
                <a:srgbClr val="14203D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03D"/>
              </a:buClr>
              <a:buSzPct val="100000"/>
              <a:buFont typeface="Arial"/>
              <a:buNone/>
            </a:pPr>
            <a:r>
              <a:t/>
            </a:r>
            <a:endParaRPr b="1" sz="3600">
              <a:solidFill>
                <a:srgbClr val="14203D"/>
              </a:solidFill>
            </a:endParaRPr>
          </a:p>
        </p:txBody>
      </p:sp>
      <p:sp>
        <p:nvSpPr>
          <p:cNvPr id="243" name="Google Shape;243;h8f9525a193b118c_0_61"/>
          <p:cNvSpPr/>
          <p:nvPr/>
        </p:nvSpPr>
        <p:spPr>
          <a:xfrm>
            <a:off x="732325" y="2044448"/>
            <a:ext cx="10883400" cy="22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Demostración en vivo: https://gympowerbulding.netlify.app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1. Alumno: registro/inicio de sesión, reserva y cancelación de un bloque, y Mi cuenta.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2. Alumno: pago de un plan con Webpay Plus (ambiente de integración) y comprobante.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3. Administrador: panel, asistencia del día y dashboard de negocio.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4. Administrador: mantenedores (planes, pagos, plantillas) y reportes PDF/Excel.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5D6679"/>
                </a:solidFill>
              </a:rPr>
              <a:t>5. Notificaciones por correo y aplicación móvil instalable (PWA).</a:t>
            </a:r>
            <a:endParaRPr sz="1600">
              <a:solidFill>
                <a:srgbClr val="5D6679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9"/>
              </a:buClr>
              <a:buSzPts val="1300"/>
              <a:buFont typeface="Arial"/>
              <a:buNone/>
            </a:pPr>
            <a:r>
              <a:t/>
            </a:r>
            <a:endParaRPr sz="1600">
              <a:solidFill>
                <a:srgbClr val="5D667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werbuilding.gym — Presentación Fase 2">
  <a:themeElements>
    <a:clrScheme name="Powerbuilding.gym — Presentación Fase 2">
      <a:dk1>
        <a:srgbClr val="14203D"/>
      </a:dk1>
      <a:lt1>
        <a:srgbClr val="F5F2EC"/>
      </a:lt1>
      <a:dk2>
        <a:srgbClr val="2B354F"/>
      </a:dk2>
      <a:lt2>
        <a:srgbClr val="BDBEC0"/>
      </a:lt2>
      <a:accent1>
        <a:srgbClr val="FF8A3D"/>
      </a:accent1>
      <a:accent2>
        <a:srgbClr val="8DB4FF"/>
      </a:accent2>
      <a:accent3>
        <a:srgbClr val="8D9BBD"/>
      </a:accent3>
      <a:accent4>
        <a:srgbClr val="5D6679"/>
      </a:accent4>
      <a:accent5>
        <a:srgbClr val="8A93A8"/>
      </a:accent5>
      <a:accent6>
        <a:srgbClr val="AAB4C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2026-10-27T13:52:22Z</dcterms:created>
  <dc:creator>Victor Mejias</dc:creator>
</cp:coreProperties>
</file>